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20">
                <a:solidFill>
                  <a:srgbClr val="E8C9C7"/>
                </a:solidFill>
                <a:latin typeface="Segoe UI"/>
              </a:rPr>
              <a:t>ELSEWEDY ELECTRIC  ·  EMPLOYEE VOICE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20240"/>
            <a:ext cx="10058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800" b="1" i="0">
                <a:solidFill>
                  <a:srgbClr val="FFFFFF"/>
                </a:solidFill>
                <a:latin typeface="Segoe UI"/>
              </a:rPr>
              <a:t>Share</a:t>
            </a:r>
            <a:r>
              <a:rPr sz="7800" b="1" i="0">
                <a:solidFill>
                  <a:srgbClr val="C4252A"/>
                </a:solidFill>
                <a:latin typeface="Segoe UI"/>
              </a:rPr>
              <a:t>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3832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0" i="0">
                <a:solidFill>
                  <a:srgbClr val="EDE7E4"/>
                </a:solidFill>
                <a:latin typeface="Segoe UI"/>
              </a:rPr>
              <a:t>Giving every employee a voice.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C4252A"/>
                </a:solidFill>
                <a:latin typeface="Segoe UI"/>
              </a:rPr>
              <a:t>●  </a:t>
            </a:r>
            <a:r>
              <a:rPr sz="1250" b="1" i="0" spc="240">
                <a:solidFill>
                  <a:srgbClr val="C9BEB9"/>
                </a:solidFill>
                <a:latin typeface="Segoe UI"/>
              </a:rPr>
              <a:t>BELONG &amp; GROW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4846320"/>
            <a:ext cx="3840480" cy="18288"/>
          </a:xfrm>
          <a:prstGeom prst="rect">
            <a:avLst/>
          </a:prstGeom>
          <a:solidFill>
            <a:srgbClr val="4A3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0749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A99E99"/>
                </a:solidFill>
                <a:latin typeface="Segoe UI"/>
              </a:rPr>
              <a:t>Prepared by:  </a:t>
            </a:r>
            <a:r>
              <a:rPr sz="1500" b="1" i="0">
                <a:solidFill>
                  <a:srgbClr val="FFFFFF"/>
                </a:solidFill>
                <a:latin typeface="Segoe UI"/>
              </a:rPr>
              <a:t>Marwan Elashry</a:t>
            </a:r>
          </a:p>
          <a:p>
            <a:r>
              <a:rPr sz="1500" b="0" i="0">
                <a:solidFill>
                  <a:srgbClr val="A99E99"/>
                </a:solidFill>
                <a:latin typeface="Segoe UI"/>
              </a:rPr>
              <a:t>Supervisor:  </a:t>
            </a:r>
            <a:r>
              <a:rPr sz="1500" b="1" i="0">
                <a:solidFill>
                  <a:srgbClr val="FFFFFF"/>
                </a:solidFill>
                <a:latin typeface="Segoe UI"/>
              </a:rPr>
              <a:t>Eng. Hussein Abdelhalim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48640"/>
            <a:ext cx="502920" cy="118872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220">
                <a:solidFill>
                  <a:srgbClr val="C4252A"/>
                </a:solidFill>
                <a:latin typeface="Segoe UI"/>
              </a:rPr>
              <a:t>WHY WE 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698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01C1B"/>
                </a:solidFill>
                <a:latin typeface="Segoe UI"/>
              </a:rPr>
              <a:t>Why we built ShareIT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38528"/>
            <a:ext cx="1280160" cy="32004"/>
          </a:xfrm>
          <a:prstGeom prst="rect">
            <a:avLst/>
          </a:prstGeom>
          <a:solidFill>
            <a:srgbClr val="E7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500" b="1" i="0">
                <a:solidFill>
                  <a:srgbClr val="C4252A"/>
                </a:solidFill>
                <a:latin typeface="Segoe UI"/>
              </a:rPr>
              <a:t>▪  </a:t>
            </a:r>
            <a:r>
              <a:rPr sz="1750" b="0" i="0">
                <a:solidFill>
                  <a:srgbClr val="201C1B"/>
                </a:solidFill>
                <a:latin typeface="Segoe UI"/>
              </a:rPr>
              <a:t>Our people across every business unit see problems, risks, and opportunities daily — with no single, trusted place to raise them.</a:t>
            </a:r>
          </a:p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500" b="1" i="0">
                <a:solidFill>
                  <a:srgbClr val="C4252A"/>
                </a:solidFill>
                <a:latin typeface="Segoe UI"/>
              </a:rPr>
              <a:t>▪  </a:t>
            </a:r>
            <a:r>
              <a:rPr sz="1750" b="0" i="0">
                <a:solidFill>
                  <a:srgbClr val="201C1B"/>
                </a:solidFill>
                <a:latin typeface="Segoe UI"/>
              </a:rPr>
              <a:t>Concerns went unspoken for fear of exposure, so early warning signs were missed.</a:t>
            </a:r>
          </a:p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500" b="1" i="0">
                <a:solidFill>
                  <a:srgbClr val="C4252A"/>
                </a:solidFill>
                <a:latin typeface="Segoe UI"/>
              </a:rPr>
              <a:t>▪  </a:t>
            </a:r>
            <a:r>
              <a:rPr sz="1750" b="0" i="0">
                <a:solidFill>
                  <a:srgbClr val="201C1B"/>
                </a:solidFill>
                <a:latin typeface="Segoe UI"/>
              </a:rPr>
              <a:t>Safety and compliance issues surfaced too late — after the cost was already paid.</a:t>
            </a:r>
          </a:p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500" b="1" i="0">
                <a:solidFill>
                  <a:srgbClr val="C4252A"/>
                </a:solidFill>
                <a:latin typeface="Segoe UI"/>
              </a:rPr>
              <a:t>▪  </a:t>
            </a:r>
            <a:r>
              <a:rPr sz="1750" b="0" i="0">
                <a:solidFill>
                  <a:srgbClr val="201C1B"/>
                </a:solidFill>
                <a:latin typeface="Segoe UI"/>
              </a:rPr>
              <a:t>Improvement and cost-saving ideas were lost with no structured way to capture them.</a:t>
            </a:r>
          </a:p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500" b="1" i="0">
                <a:solidFill>
                  <a:srgbClr val="C4252A"/>
                </a:solidFill>
                <a:latin typeface="Segoe UI"/>
              </a:rPr>
              <a:t>▪  </a:t>
            </a:r>
            <a:r>
              <a:rPr sz="1750" b="0" i="0">
                <a:solidFill>
                  <a:srgbClr val="201C1B"/>
                </a:solidFill>
                <a:latin typeface="Segoe UI"/>
              </a:rPr>
              <a:t>The old tool was complaints-only and gave leadership no real visibility.</a:t>
            </a:r>
          </a:p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500" b="1" i="0">
                <a:solidFill>
                  <a:srgbClr val="C4252A"/>
                </a:solidFill>
                <a:latin typeface="Segoe UI"/>
              </a:rPr>
              <a:t>▪  </a:t>
            </a:r>
            <a:r>
              <a:rPr sz="1750" b="0" i="0">
                <a:solidFill>
                  <a:srgbClr val="201C1B"/>
                </a:solidFill>
                <a:latin typeface="Segoe UI"/>
              </a:rPr>
              <a:t>We needed one confidential, easy, trackable channel that turns employee voice into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3737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00">
                <a:solidFill>
                  <a:srgbClr val="C4252A"/>
                </a:solidFill>
                <a:latin typeface="Segoe UI"/>
              </a:rPr>
              <a:t>ShareIT</a:t>
            </a:r>
            <a:r>
              <a:rPr sz="900" b="0" i="0" spc="100">
                <a:solidFill>
                  <a:srgbClr val="8A807C"/>
                </a:solidFill>
                <a:latin typeface="Segoe UI"/>
              </a:rPr>
              <a:t>  ·  Elsewedy Electric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37376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5653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48640"/>
            <a:ext cx="502920" cy="118872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220">
                <a:solidFill>
                  <a:srgbClr val="C4252A"/>
                </a:solidFill>
                <a:latin typeface="Segoe UI"/>
              </a:rPr>
              <a:t>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698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01C1B"/>
                </a:solidFill>
                <a:latin typeface="Segoe UI"/>
              </a:rPr>
              <a:t>One trusted channel — for every 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38528"/>
            <a:ext cx="1280160" cy="32004"/>
          </a:xfrm>
          <a:prstGeom prst="rect">
            <a:avLst/>
          </a:prstGeom>
          <a:solidFill>
            <a:srgbClr val="E7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5F5653"/>
                </a:solidFill>
                <a:latin typeface="Segoe UI"/>
              </a:rPr>
              <a:t>A secure “employee voice” portal for all of Elsewedy Electric: submit in about a minute, by name or anonymously, and every case is tracked to resolution.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429000"/>
            <a:ext cx="3300984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3721608"/>
            <a:ext cx="384048" cy="82296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2752344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 i="0">
                <a:solidFill>
                  <a:srgbClr val="201C1B"/>
                </a:solidFill>
                <a:latin typeface="Segoe UI"/>
              </a:rPr>
              <a:t>Safe &amp; confidential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5F5653"/>
                </a:solidFill>
                <a:latin typeface="Segoe UI"/>
              </a:rPr>
              <a:t>Report anonymously if you prefer — identity stays protected, always.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3429000"/>
            <a:ext cx="3300984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8304" y="3721608"/>
            <a:ext cx="384048" cy="82296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8304" y="3931920"/>
            <a:ext cx="2752344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 i="0">
                <a:solidFill>
                  <a:srgbClr val="201C1B"/>
                </a:solidFill>
                <a:latin typeface="Segoe UI"/>
              </a:rPr>
              <a:t>Fast &amp; simple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5F5653"/>
                </a:solidFill>
                <a:latin typeface="Segoe UI"/>
              </a:rPr>
              <a:t>A short, guided form — submit in about a minute, on any device.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3429000"/>
            <a:ext cx="3300984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39328" y="3721608"/>
            <a:ext cx="384048" cy="82296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3931920"/>
            <a:ext cx="2752344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 i="0">
                <a:solidFill>
                  <a:srgbClr val="201C1B"/>
                </a:solidFill>
                <a:latin typeface="Segoe UI"/>
              </a:rPr>
              <a:t>Always trackable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5F5653"/>
                </a:solidFill>
                <a:latin typeface="Segoe UI"/>
              </a:rPr>
              <a:t>A reference number lets people follow their case to resolution.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3737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00">
                <a:solidFill>
                  <a:srgbClr val="C4252A"/>
                </a:solidFill>
                <a:latin typeface="Segoe UI"/>
              </a:rPr>
              <a:t>ShareIT</a:t>
            </a:r>
            <a:r>
              <a:rPr sz="900" b="0" i="0" spc="100">
                <a:solidFill>
                  <a:srgbClr val="8A807C"/>
                </a:solidFill>
                <a:latin typeface="Segoe UI"/>
              </a:rPr>
              <a:t>  ·  Elsewedy Electric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37376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5653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48640"/>
            <a:ext cx="502920" cy="118872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220">
                <a:solidFill>
                  <a:srgbClr val="C4252A"/>
                </a:solidFill>
                <a:latin typeface="Segoe UI"/>
              </a:rPr>
              <a:t>WHAT PEOPLE CAN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698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01C1B"/>
                </a:solidFill>
                <a:latin typeface="Segoe UI"/>
              </a:rPr>
              <a:t>Six ways to be heard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38528"/>
            <a:ext cx="1280160" cy="32004"/>
          </a:xfrm>
          <a:prstGeom prst="rect">
            <a:avLst/>
          </a:prstGeom>
          <a:solidFill>
            <a:srgbClr val="E7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3300984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624328"/>
            <a:ext cx="384048" cy="82296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2752344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 i="0">
                <a:solidFill>
                  <a:srgbClr val="201C1B"/>
                </a:solidFill>
                <a:latin typeface="Segoe UI"/>
              </a:rPr>
              <a:t>Issue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5F5653"/>
                </a:solidFill>
                <a:latin typeface="Segoe UI"/>
              </a:rPr>
              <a:t>A problem in operations, people, or process.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2331720"/>
            <a:ext cx="3300984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18304" y="2624328"/>
            <a:ext cx="384048" cy="82296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2834640"/>
            <a:ext cx="2752344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 i="0">
                <a:solidFill>
                  <a:srgbClr val="201C1B"/>
                </a:solidFill>
                <a:latin typeface="Segoe UI"/>
              </a:rPr>
              <a:t>Idea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5F5653"/>
                </a:solidFill>
                <a:latin typeface="Segoe UI"/>
              </a:rPr>
              <a:t>An improvement or a new idea worth trying.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2331720"/>
            <a:ext cx="3300984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39328" y="2624328"/>
            <a:ext cx="384048" cy="82296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2834640"/>
            <a:ext cx="2752344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 i="0">
                <a:solidFill>
                  <a:srgbClr val="201C1B"/>
                </a:solidFill>
                <a:latin typeface="Segoe UI"/>
              </a:rPr>
              <a:t>Project Proposal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5F5653"/>
                </a:solidFill>
                <a:latin typeface="Segoe UI"/>
              </a:rPr>
              <a:t>A bigger initiative — cost, benefits, timeline.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87952"/>
            <a:ext cx="3300984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4480560"/>
            <a:ext cx="384048" cy="82296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90872"/>
            <a:ext cx="2752344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 i="0">
                <a:solidFill>
                  <a:srgbClr val="201C1B"/>
                </a:solidFill>
                <a:latin typeface="Segoe UI"/>
              </a:rPr>
              <a:t>Safety Concern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5F5653"/>
                </a:solidFill>
                <a:latin typeface="Segoe UI"/>
              </a:rPr>
              <a:t>A hazard or risk that needs attention.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3984" y="4187952"/>
            <a:ext cx="3300984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18304" y="4480560"/>
            <a:ext cx="384048" cy="82296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8304" y="4690872"/>
            <a:ext cx="2752344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 i="0">
                <a:solidFill>
                  <a:srgbClr val="201C1B"/>
                </a:solidFill>
                <a:latin typeface="Segoe UI"/>
              </a:rPr>
              <a:t>Feedback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5F5653"/>
                </a:solidFill>
                <a:latin typeface="Segoe UI"/>
              </a:rPr>
              <a:t>Feedback on the workplace, or a complaint.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5008" y="4187952"/>
            <a:ext cx="3300984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39328" y="4480560"/>
            <a:ext cx="384048" cy="82296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8" y="4690872"/>
            <a:ext cx="2752344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 i="0">
                <a:solidFill>
                  <a:srgbClr val="201C1B"/>
                </a:solidFill>
                <a:latin typeface="Segoe UI"/>
              </a:rPr>
              <a:t>System Request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5F5653"/>
                </a:solidFill>
                <a:latin typeface="Segoe UI"/>
              </a:rPr>
              <a:t>A digital or system improvement request.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3737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00">
                <a:solidFill>
                  <a:srgbClr val="C4252A"/>
                </a:solidFill>
                <a:latin typeface="Segoe UI"/>
              </a:rPr>
              <a:t>ShareIT</a:t>
            </a:r>
            <a:r>
              <a:rPr sz="900" b="0" i="0" spc="100">
                <a:solidFill>
                  <a:srgbClr val="8A807C"/>
                </a:solidFill>
                <a:latin typeface="Segoe UI"/>
              </a:rPr>
              <a:t>  ·  Elsewedy Electric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37376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5653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48640"/>
            <a:ext cx="502920" cy="118872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220">
                <a:solidFill>
                  <a:srgbClr val="C4252A"/>
                </a:solidFill>
                <a:latin typeface="Segoe UI"/>
              </a:rPr>
              <a:t>THE EMPLOYEE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698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01C1B"/>
                </a:solidFill>
                <a:latin typeface="Segoe UI"/>
              </a:rPr>
              <a:t>Three simple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38528"/>
            <a:ext cx="1280160" cy="32004"/>
          </a:xfrm>
          <a:prstGeom prst="rect">
            <a:avLst/>
          </a:prstGeom>
          <a:solidFill>
            <a:srgbClr val="E7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140">
                <a:solidFill>
                  <a:srgbClr val="C4252A"/>
                </a:solidFill>
                <a:latin typeface="Segoe UI"/>
              </a:rPr>
              <a:t>STEP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201C1B"/>
                </a:solidFill>
                <a:latin typeface="Segoe UI"/>
              </a:rPr>
              <a:t>Choose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0" i="0">
                <a:solidFill>
                  <a:srgbClr val="5F5653"/>
                </a:solidFill>
                <a:latin typeface="Segoe UI"/>
              </a:rPr>
              <a:t>Pick what to share, and whether to include your name or stay anonymous.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800600"/>
            <a:ext cx="2011680" cy="36576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5146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140">
                <a:solidFill>
                  <a:srgbClr val="C4252A"/>
                </a:solidFill>
                <a:latin typeface="Segoe UI"/>
              </a:rPr>
              <a:t>STEP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92608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201C1B"/>
                </a:solidFill>
                <a:latin typeface="Segoe UI"/>
              </a:rPr>
              <a:t>Describe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65760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0" i="0">
                <a:solidFill>
                  <a:srgbClr val="5F5653"/>
                </a:solidFill>
                <a:latin typeface="Segoe UI"/>
              </a:rPr>
              <a:t>A short guided form asks only what matters for that kind of submission.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90288" y="4800600"/>
            <a:ext cx="2011680" cy="36576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25146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140">
                <a:solidFill>
                  <a:srgbClr val="C4252A"/>
                </a:solidFill>
                <a:latin typeface="Segoe UI"/>
              </a:rPr>
              <a:t>STEP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292608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201C1B"/>
                </a:solidFill>
                <a:latin typeface="Segoe UI"/>
              </a:rPr>
              <a:t>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65760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0" i="0">
                <a:solidFill>
                  <a:srgbClr val="5F5653"/>
                </a:solidFill>
                <a:latin typeface="Segoe UI"/>
              </a:rPr>
              <a:t>Get a reference number and follow your case as it's reviewed and resolved.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57616" y="4800600"/>
            <a:ext cx="2011680" cy="36576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53212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1C1B"/>
                </a:solidFill>
                <a:latin typeface="Segoe UI"/>
              </a:rPr>
              <a:t>Confidential by design — and built so no submission ever goes unanswered.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3737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00">
                <a:solidFill>
                  <a:srgbClr val="C4252A"/>
                </a:solidFill>
                <a:latin typeface="Segoe UI"/>
              </a:rPr>
              <a:t>ShareIT</a:t>
            </a:r>
            <a:r>
              <a:rPr sz="900" b="0" i="0" spc="100">
                <a:solidFill>
                  <a:srgbClr val="8A807C"/>
                </a:solidFill>
                <a:latin typeface="Segoe UI"/>
              </a:rPr>
              <a:t>  ·  Elsewedy Electric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37376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5653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48640"/>
            <a:ext cx="502920" cy="118872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220">
                <a:solidFill>
                  <a:srgbClr val="C4252A"/>
                </a:solidFill>
                <a:latin typeface="Segoe UI"/>
              </a:rPr>
              <a:t>FOR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698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01C1B"/>
                </a:solidFill>
                <a:latin typeface="Segoe UI"/>
              </a:rPr>
              <a:t>A live view of what our people tell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38528"/>
            <a:ext cx="1280160" cy="32004"/>
          </a:xfrm>
          <a:prstGeom prst="rect">
            <a:avLst/>
          </a:prstGeom>
          <a:solidFill>
            <a:srgbClr val="E7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6126480" cy="3703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5877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150">
                <a:solidFill>
                  <a:srgbClr val="8A807C"/>
                </a:solidFill>
                <a:latin typeface="Segoe UI"/>
              </a:rPr>
              <a:t>SUBMISSIONS BY BUSINESS 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632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201C1B"/>
                </a:solidFill>
                <a:latin typeface="Segoe UI"/>
              </a:rPr>
              <a:t>ECMEI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3081528"/>
            <a:ext cx="2331720" cy="155448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3081528"/>
            <a:ext cx="2331720" cy="155448"/>
          </a:xfrm>
          <a:prstGeom prst="roundRect">
            <a:avLst>
              <a:gd name="adj" fmla="val 50000"/>
            </a:avLst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3044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5F5653"/>
                </a:solidFill>
                <a:latin typeface="Segoe UI"/>
              </a:rPr>
              <a:t>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204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201C1B"/>
                </a:solidFill>
                <a:latin typeface="Segoe UI"/>
              </a:rPr>
              <a:t>ETC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3538728"/>
            <a:ext cx="2331720" cy="155448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34640" y="3538728"/>
            <a:ext cx="2098548" cy="155448"/>
          </a:xfrm>
          <a:prstGeom prst="roundRect">
            <a:avLst>
              <a:gd name="adj" fmla="val 50000"/>
            </a:avLst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35021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5F5653"/>
                </a:solidFill>
                <a:latin typeface="Segoe UI"/>
              </a:rP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9776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201C1B"/>
                </a:solidFill>
                <a:latin typeface="Segoe UI"/>
              </a:rPr>
              <a:t>ESC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3995928"/>
            <a:ext cx="2331720" cy="155448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34640" y="3995928"/>
            <a:ext cx="1608886" cy="155448"/>
          </a:xfrm>
          <a:prstGeom prst="roundRect">
            <a:avLst>
              <a:gd name="adj" fmla="val 50000"/>
            </a:avLst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39593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5F5653"/>
                </a:solidFill>
                <a:latin typeface="Segoe UI"/>
              </a:rPr>
              <a:t>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4348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201C1B"/>
                </a:solidFill>
                <a:latin typeface="Segoe UI"/>
              </a:rPr>
              <a:t>Cables Accessories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4453128"/>
            <a:ext cx="2331720" cy="155448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834640" y="4453128"/>
            <a:ext cx="1329080" cy="155448"/>
          </a:xfrm>
          <a:prstGeom prst="roundRect">
            <a:avLst>
              <a:gd name="adj" fmla="val 50000"/>
            </a:avLst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44165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5F5653"/>
                </a:solidFill>
                <a:latin typeface="Segoe UI"/>
              </a:rPr>
              <a:t>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8920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201C1B"/>
                </a:solidFill>
                <a:latin typeface="Segoe UI"/>
              </a:rPr>
              <a:t>Polymers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4910328"/>
            <a:ext cx="2331720" cy="155448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834640" y="4910328"/>
            <a:ext cx="1049274" cy="155448"/>
          </a:xfrm>
          <a:prstGeom prst="roundRect">
            <a:avLst>
              <a:gd name="adj" fmla="val 50000"/>
            </a:avLst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48737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5F5653"/>
                </a:solidFill>
                <a:latin typeface="Segoe UI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3492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201C1B"/>
                </a:solidFill>
                <a:latin typeface="Segoe UI"/>
              </a:rPr>
              <a:t>UMC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40" y="5367528"/>
            <a:ext cx="2331720" cy="155448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834640" y="5367528"/>
            <a:ext cx="839419" cy="155448"/>
          </a:xfrm>
          <a:prstGeom prst="roundRect">
            <a:avLst>
              <a:gd name="adj" fmla="val 50000"/>
            </a:avLst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5330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5F5653"/>
                </a:solidFill>
                <a:latin typeface="Segoe UI"/>
              </a:rPr>
              <a:t>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78040" y="2331720"/>
            <a:ext cx="416052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2551176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150">
                <a:solidFill>
                  <a:srgbClr val="8A807C"/>
                </a:solidFill>
                <a:latin typeface="Segoe UI"/>
              </a:rPr>
              <a:t>THIS QUARTER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289864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>
                <a:solidFill>
                  <a:srgbClr val="C4252A"/>
                </a:solidFill>
                <a:latin typeface="Segoe UI"/>
              </a:rPr>
              <a:t>1,240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46120"/>
            <a:ext cx="1691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5F5653"/>
                </a:solidFill>
                <a:latin typeface="Segoe UI"/>
              </a:rPr>
              <a:t>Submissions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289864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>
                <a:solidFill>
                  <a:srgbClr val="201C1B"/>
                </a:solidFill>
                <a:latin typeface="Segoe UI"/>
              </a:rPr>
              <a:t>92%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3246120"/>
            <a:ext cx="1691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5F5653"/>
                </a:solidFill>
                <a:latin typeface="Segoe UI"/>
              </a:rPr>
              <a:t>Responded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352044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>
                <a:solidFill>
                  <a:srgbClr val="201C1B"/>
                </a:solidFill>
                <a:latin typeface="Segoe U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3867912"/>
            <a:ext cx="1691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5F5653"/>
                </a:solidFill>
                <a:latin typeface="Segoe UI"/>
              </a:rPr>
              <a:t>Business units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352044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>
                <a:solidFill>
                  <a:srgbClr val="201C1B"/>
                </a:solidFill>
                <a:latin typeface="Segoe UI"/>
              </a:rPr>
              <a:t>4.1d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3867912"/>
            <a:ext cx="1691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5F5653"/>
                </a:solidFill>
                <a:latin typeface="Segoe UI"/>
              </a:rPr>
              <a:t>Avg. response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78040" y="4270248"/>
            <a:ext cx="4160520" cy="17647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52360" y="4471416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150">
                <a:solidFill>
                  <a:srgbClr val="8A807C"/>
                </a:solidFill>
                <a:latin typeface="Segoe UI"/>
              </a:rPr>
              <a:t>RESOLUTION STATUS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4919472"/>
            <a:ext cx="128016" cy="128016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489204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201C1B"/>
                </a:solidFill>
                <a:latin typeface="Segoe UI"/>
              </a:rPr>
              <a:t>Closed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489204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F5653"/>
                </a:solidFill>
                <a:latin typeface="Segoe UI"/>
              </a:rPr>
              <a:t>55%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52360" y="5184648"/>
            <a:ext cx="128016" cy="128016"/>
          </a:xfrm>
          <a:prstGeom prst="rect">
            <a:avLst/>
          </a:prstGeom>
          <a:solidFill>
            <a:srgbClr val="9E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0" y="5157216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201C1B"/>
                </a:solidFill>
                <a:latin typeface="Segoe UI"/>
              </a:rPr>
              <a:t>Actioned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515721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F5653"/>
                </a:solidFill>
                <a:latin typeface="Segoe UI"/>
              </a:rPr>
              <a:t>14%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52360" y="5449824"/>
            <a:ext cx="128016" cy="1280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80960" y="542239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201C1B"/>
                </a:solidFill>
                <a:latin typeface="Segoe UI"/>
              </a:rPr>
              <a:t>In review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542239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F5653"/>
                </a:solidFill>
                <a:latin typeface="Segoe UI"/>
              </a:rPr>
              <a:t>14%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52360" y="5715000"/>
            <a:ext cx="128016" cy="128016"/>
          </a:xfrm>
          <a:prstGeom prst="rect">
            <a:avLst/>
          </a:prstGeom>
          <a:solidFill>
            <a:srgbClr val="8A8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0960" y="568756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201C1B"/>
                </a:solidFill>
                <a:latin typeface="Segoe UI"/>
              </a:rPr>
              <a:t>New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568756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F5653"/>
                </a:solidFill>
                <a:latin typeface="Segoe UI"/>
              </a:rPr>
              <a:t>17%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61081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spc="120">
                <a:solidFill>
                  <a:srgbClr val="8A807C"/>
                </a:solidFill>
                <a:latin typeface="Segoe UI"/>
              </a:rPr>
              <a:t>ILLUSTRATIVE FIGURES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643737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00">
                <a:solidFill>
                  <a:srgbClr val="C4252A"/>
                </a:solidFill>
                <a:latin typeface="Segoe UI"/>
              </a:rPr>
              <a:t>ShareIT</a:t>
            </a:r>
            <a:r>
              <a:rPr sz="900" b="0" i="0" spc="100">
                <a:solidFill>
                  <a:srgbClr val="8A807C"/>
                </a:solidFill>
                <a:latin typeface="Segoe UI"/>
              </a:rPr>
              <a:t>  ·  Elsewedy Electric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98480" y="6437376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5653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48640"/>
            <a:ext cx="502920" cy="118872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220">
                <a:solidFill>
                  <a:srgbClr val="C4252A"/>
                </a:solidFill>
                <a:latin typeface="Segoe UI"/>
              </a:rPr>
              <a:t>WHY IT GROWS THE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698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01C1B"/>
                </a:solidFill>
                <a:latin typeface="Segoe UI"/>
              </a:rPr>
              <a:t>How ShareIT helps the business grow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38528"/>
            <a:ext cx="1280160" cy="32004"/>
          </a:xfrm>
          <a:prstGeom prst="rect">
            <a:avLst/>
          </a:prstGeom>
          <a:solidFill>
            <a:srgbClr val="E7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500" b="1" i="0">
                <a:solidFill>
                  <a:srgbClr val="C4252A"/>
                </a:solidFill>
                <a:latin typeface="Segoe UI"/>
              </a:rPr>
              <a:t>▪  </a:t>
            </a:r>
            <a:r>
              <a:rPr sz="1850" b="0" i="0">
                <a:solidFill>
                  <a:srgbClr val="201C1B"/>
                </a:solidFill>
                <a:latin typeface="Segoe UI"/>
              </a:rPr>
              <a:t>Safer operations — hazards caught early mean fewer incidents, less downtime, and lower cost.</a:t>
            </a:r>
          </a:p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500" b="1" i="0">
                <a:solidFill>
                  <a:srgbClr val="C4252A"/>
                </a:solidFill>
                <a:latin typeface="Segoe UI"/>
              </a:rPr>
              <a:t>▪  </a:t>
            </a:r>
            <a:r>
              <a:rPr sz="1850" b="0" i="0">
                <a:solidFill>
                  <a:srgbClr val="201C1B"/>
                </a:solidFill>
                <a:latin typeface="Segoe UI"/>
              </a:rPr>
              <a:t>Faster risk detection — compliance and people risks reach leadership sooner, protecting reputation.</a:t>
            </a:r>
          </a:p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500" b="1" i="0">
                <a:solidFill>
                  <a:srgbClr val="C4252A"/>
                </a:solidFill>
                <a:latin typeface="Segoe UI"/>
              </a:rPr>
              <a:t>▪  </a:t>
            </a:r>
            <a:r>
              <a:rPr sz="1850" b="0" i="0">
                <a:solidFill>
                  <a:srgbClr val="201C1B"/>
                </a:solidFill>
                <a:latin typeface="Segoe UI"/>
              </a:rPr>
              <a:t>Innovation from the frontline — everyday employee ideas become real cost savings and efficiency gains.</a:t>
            </a:r>
          </a:p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500" b="1" i="0">
                <a:solidFill>
                  <a:srgbClr val="C4252A"/>
                </a:solidFill>
                <a:latin typeface="Segoe UI"/>
              </a:rPr>
              <a:t>▪  </a:t>
            </a:r>
            <a:r>
              <a:rPr sz="1850" b="0" i="0">
                <a:solidFill>
                  <a:srgbClr val="201C1B"/>
                </a:solidFill>
                <a:latin typeface="Segoe UI"/>
              </a:rPr>
              <a:t>Stronger engagement &amp; retention — people who feel heard stay longer, contribute more, and perform better.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3737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00">
                <a:solidFill>
                  <a:srgbClr val="C4252A"/>
                </a:solidFill>
                <a:latin typeface="Segoe UI"/>
              </a:rPr>
              <a:t>ShareIT</a:t>
            </a:r>
            <a:r>
              <a:rPr sz="900" b="0" i="0" spc="100">
                <a:solidFill>
                  <a:srgbClr val="8A807C"/>
                </a:solidFill>
                <a:latin typeface="Segoe UI"/>
              </a:rPr>
              <a:t>  ·  Elsewedy Electric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37376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5653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48640"/>
            <a:ext cx="502920" cy="118872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220">
                <a:solidFill>
                  <a:srgbClr val="C4252A"/>
                </a:solidFill>
                <a:latin typeface="Segoe UI"/>
              </a:rPr>
              <a:t>GROWTH YOU CAN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698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01C1B"/>
                </a:solidFill>
                <a:latin typeface="Segoe UI"/>
              </a:rPr>
              <a:t>Value the business can feel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38528"/>
            <a:ext cx="1280160" cy="32004"/>
          </a:xfrm>
          <a:prstGeom prst="rect">
            <a:avLst/>
          </a:prstGeom>
          <a:solidFill>
            <a:srgbClr val="E7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5000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50008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31720"/>
            <a:ext cx="4526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50" b="1" i="0">
                <a:solidFill>
                  <a:srgbClr val="201C1B"/>
                </a:solidFill>
                <a:latin typeface="Segoe UI"/>
              </a:rPr>
              <a:t>Continuous improvement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5F5653"/>
                </a:solidFill>
                <a:latin typeface="Segoe UI"/>
              </a:rPr>
              <a:t>Recurring-issue trends show where to invest and what to fix.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447288"/>
            <a:ext cx="5029200" cy="10972"/>
          </a:xfrm>
          <a:prstGeom prst="rect">
            <a:avLst/>
          </a:prstGeom>
          <a:solidFill>
            <a:srgbClr val="E7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36792" y="235000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2350008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2331720"/>
            <a:ext cx="4526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50" b="1" i="0">
                <a:solidFill>
                  <a:srgbClr val="201C1B"/>
                </a:solidFill>
                <a:latin typeface="Segoe UI"/>
              </a:rPr>
              <a:t>Data-driven decisions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5F5653"/>
                </a:solidFill>
                <a:latin typeface="Segoe UI"/>
              </a:rPr>
              <a:t>Leadership acts on evidence and clear trends, not anecdotes.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447288"/>
            <a:ext cx="5029200" cy="10972"/>
          </a:xfrm>
          <a:prstGeom prst="rect">
            <a:avLst/>
          </a:prstGeom>
          <a:solidFill>
            <a:srgbClr val="E7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557016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557016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38728"/>
            <a:ext cx="4526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50" b="1" i="0">
                <a:solidFill>
                  <a:srgbClr val="201C1B"/>
                </a:solidFill>
                <a:latin typeface="Segoe UI"/>
              </a:rPr>
              <a:t>Accountability &amp; trust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5F5653"/>
                </a:solidFill>
                <a:latin typeface="Segoe UI"/>
              </a:rPr>
              <a:t>A full audit trail on every case builds a culture of integrity.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654296"/>
            <a:ext cx="5029200" cy="10972"/>
          </a:xfrm>
          <a:prstGeom prst="rect">
            <a:avLst/>
          </a:prstGeom>
          <a:solidFill>
            <a:srgbClr val="E7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36792" y="3557016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3557016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3538728"/>
            <a:ext cx="4526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50" b="1" i="0">
                <a:solidFill>
                  <a:srgbClr val="201C1B"/>
                </a:solidFill>
                <a:latin typeface="Segoe UI"/>
              </a:rPr>
              <a:t>One platform, all units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5F5653"/>
                </a:solidFill>
                <a:latin typeface="Segoe UI"/>
              </a:rPr>
              <a:t>Consistent process and comparable data drive group-wide learning.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6792" y="4654296"/>
            <a:ext cx="5029200" cy="10972"/>
          </a:xfrm>
          <a:prstGeom prst="rect">
            <a:avLst/>
          </a:prstGeom>
          <a:solidFill>
            <a:srgbClr val="E7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4764024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764024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745736"/>
            <a:ext cx="4526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50" b="1" i="0">
                <a:solidFill>
                  <a:srgbClr val="201C1B"/>
                </a:solidFill>
                <a:latin typeface="Segoe UI"/>
              </a:rPr>
              <a:t>Low cost, high leverage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5F5653"/>
                </a:solidFill>
                <a:latin typeface="Segoe UI"/>
              </a:rPr>
              <a:t>A modest tool that unlocks safety, savings, and engagement at scale.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36792" y="4764024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4764024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4745736"/>
            <a:ext cx="4526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50" b="1" i="0">
                <a:solidFill>
                  <a:srgbClr val="201C1B"/>
                </a:solidFill>
                <a:latin typeface="Segoe UI"/>
              </a:rPr>
              <a:t>Talent &amp; reputation</a:t>
            </a:r>
          </a:p>
          <a:p>
            <a:pPr>
              <a:lnSpc>
                <a:spcPct val="110000"/>
              </a:lnSpc>
            </a:pPr>
            <a:r>
              <a:rPr sz="1250" b="0" i="0">
                <a:solidFill>
                  <a:srgbClr val="5F5653"/>
                </a:solidFill>
                <a:latin typeface="Segoe UI"/>
              </a:rPr>
              <a:t>A workplace that listens attracts and keeps stronger people.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43737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00">
                <a:solidFill>
                  <a:srgbClr val="C4252A"/>
                </a:solidFill>
                <a:latin typeface="Segoe UI"/>
              </a:rPr>
              <a:t>ShareIT</a:t>
            </a:r>
            <a:r>
              <a:rPr sz="900" b="0" i="0" spc="100">
                <a:solidFill>
                  <a:srgbClr val="8A807C"/>
                </a:solidFill>
                <a:latin typeface="Segoe UI"/>
              </a:rPr>
              <a:t>  ·  Elsewedy Electric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37376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5653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48640"/>
            <a:ext cx="502920" cy="118872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220">
                <a:solidFill>
                  <a:srgbClr val="C4252A"/>
                </a:solidFill>
                <a:latin typeface="Segoe UI"/>
              </a:rPr>
              <a:t>WHERE IT GROWS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698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01C1B"/>
                </a:solidFill>
                <a:latin typeface="Segoe UI"/>
              </a:rPr>
              <a:t>Built to grow with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38528"/>
            <a:ext cx="1280160" cy="32004"/>
          </a:xfrm>
          <a:prstGeom prst="rect">
            <a:avLst/>
          </a:prstGeom>
          <a:solidFill>
            <a:srgbClr val="E7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27432"/>
          </a:xfrm>
          <a:prstGeom prst="rect">
            <a:avLst/>
          </a:prstGeom>
          <a:solidFill>
            <a:srgbClr val="E7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423160"/>
            <a:ext cx="182880" cy="182880"/>
          </a:xfrm>
          <a:prstGeom prst="ellipse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spc="160">
                <a:solidFill>
                  <a:srgbClr val="C4252A"/>
                </a:solidFill>
                <a:latin typeface="Segoe UI"/>
              </a:rP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36392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201C1B"/>
                </a:solidFill>
                <a:latin typeface="Segoe UI"/>
              </a:rPr>
              <a:t>Smart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248716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 i="0">
                <a:solidFill>
                  <a:srgbClr val="5F5653"/>
                </a:solidFill>
                <a:latin typeface="Segoe UI"/>
              </a:rPr>
              <a:t>Cases go straight to the right HR or HSE owner in each business unit.</a:t>
            </a:r>
          </a:p>
        </p:txBody>
      </p:sp>
      <p:sp>
        <p:nvSpPr>
          <p:cNvPr id="11" name="Oval 10"/>
          <p:cNvSpPr/>
          <p:nvPr/>
        </p:nvSpPr>
        <p:spPr>
          <a:xfrm>
            <a:off x="3493008" y="2423160"/>
            <a:ext cx="182880" cy="182880"/>
          </a:xfrm>
          <a:prstGeom prst="ellipse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2788920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spc="160">
                <a:solidFill>
                  <a:srgbClr val="C4252A"/>
                </a:solidFill>
                <a:latin typeface="Segoe UI"/>
              </a:rPr>
              <a:t>SOON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136392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201C1B"/>
                </a:solidFill>
                <a:latin typeface="Segoe UI"/>
              </a:rPr>
              <a:t>Mobile-first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3794760"/>
            <a:ext cx="248716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 i="0">
                <a:solidFill>
                  <a:srgbClr val="5F5653"/>
                </a:solidFill>
                <a:latin typeface="Segoe UI"/>
              </a:rPr>
              <a:t>Raise a concern from the plant floor or out in the field.</a:t>
            </a:r>
          </a:p>
        </p:txBody>
      </p:sp>
      <p:sp>
        <p:nvSpPr>
          <p:cNvPr id="15" name="Oval 14"/>
          <p:cNvSpPr/>
          <p:nvPr/>
        </p:nvSpPr>
        <p:spPr>
          <a:xfrm>
            <a:off x="6163056" y="2423160"/>
            <a:ext cx="182880" cy="182880"/>
          </a:xfrm>
          <a:prstGeom prst="ellipse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2788920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spc="160">
                <a:solidFill>
                  <a:srgbClr val="C4252A"/>
                </a:solidFill>
                <a:latin typeface="Segoe UI"/>
              </a:rPr>
              <a:t>THEN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3136392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201C1B"/>
                </a:solidFill>
                <a:latin typeface="Segoe UI"/>
              </a:rPr>
              <a:t>Recognition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3794760"/>
            <a:ext cx="248716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 i="0">
                <a:solidFill>
                  <a:srgbClr val="5F5653"/>
                </a:solidFill>
                <a:latin typeface="Segoe UI"/>
              </a:rPr>
              <a:t>Celebrate the employees whose ideas get adopted across the group.</a:t>
            </a:r>
          </a:p>
        </p:txBody>
      </p:sp>
      <p:sp>
        <p:nvSpPr>
          <p:cNvPr id="19" name="Oval 18"/>
          <p:cNvSpPr/>
          <p:nvPr/>
        </p:nvSpPr>
        <p:spPr>
          <a:xfrm>
            <a:off x="8833104" y="2423160"/>
            <a:ext cx="182880" cy="182880"/>
          </a:xfrm>
          <a:prstGeom prst="ellipse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33104" y="2788920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spc="160">
                <a:solidFill>
                  <a:srgbClr val="C4252A"/>
                </a:solidFill>
                <a:latin typeface="Segoe UI"/>
              </a:rPr>
              <a:t>ONGOING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3104" y="3136392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201C1B"/>
                </a:solidFill>
                <a:latin typeface="Segoe UI"/>
              </a:rPr>
              <a:t>Trend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3104" y="3794760"/>
            <a:ext cx="248716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 i="0">
                <a:solidFill>
                  <a:srgbClr val="5F5653"/>
                </a:solidFill>
                <a:latin typeface="Segoe UI"/>
              </a:rPr>
              <a:t>Track themes over time to guide policy and investment.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3737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00">
                <a:solidFill>
                  <a:srgbClr val="C4252A"/>
                </a:solidFill>
                <a:latin typeface="Segoe UI"/>
              </a:rPr>
              <a:t>ShareIT</a:t>
            </a:r>
            <a:r>
              <a:rPr sz="900" b="0" i="0" spc="100">
                <a:solidFill>
                  <a:srgbClr val="8A807C"/>
                </a:solidFill>
                <a:latin typeface="Segoe UI"/>
              </a:rPr>
              <a:t>  ·  Elsewedy Electric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37376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5653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48640"/>
            <a:ext cx="502920" cy="118872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220">
                <a:solidFill>
                  <a:srgbClr val="C4252A"/>
                </a:solidFill>
                <a:latin typeface="Segoe U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241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3400" b="1" i="0">
                <a:solidFill>
                  <a:srgbClr val="201C1B"/>
                </a:solidFill>
                <a:latin typeface="Segoe UI"/>
              </a:rPr>
              <a:t>A natural fit for how we already lead.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500" b="1" i="0">
                <a:solidFill>
                  <a:srgbClr val="C4252A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201C1B"/>
                </a:solidFill>
                <a:latin typeface="Segoe UI"/>
              </a:rPr>
              <a:t>Puts our “Belong &amp; Grow” people commitment into everyday, visible practice.</a:t>
            </a:r>
          </a:p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500" b="1" i="0">
                <a:solidFill>
                  <a:srgbClr val="C4252A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201C1B"/>
                </a:solidFill>
                <a:latin typeface="Segoe UI"/>
              </a:rPr>
              <a:t>Reinforces a culture of safety, integrity, and continuous improvement.</a:t>
            </a:r>
          </a:p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500" b="1" i="0">
                <a:solidFill>
                  <a:srgbClr val="C4252A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201C1B"/>
                </a:solidFill>
                <a:latin typeface="Segoe UI"/>
              </a:rPr>
              <a:t>Ready to use today — and designed to scale across every business unit.</a:t>
            </a:r>
          </a:p>
          <a:p>
            <a:pPr>
              <a:lnSpc>
                <a:spcPct val="113000"/>
              </a:lnSpc>
              <a:spcAft>
                <a:spcPts val="1100"/>
              </a:spcAft>
            </a:pPr>
            <a:r>
              <a:rPr sz="1500" b="1" i="0">
                <a:solidFill>
                  <a:srgbClr val="C4252A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201C1B"/>
                </a:solidFill>
                <a:latin typeface="Segoe UI"/>
              </a:rPr>
              <a:t>A clear signal to our people that their voice matters and leads to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3737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00">
                <a:solidFill>
                  <a:srgbClr val="C4252A"/>
                </a:solidFill>
                <a:latin typeface="Segoe UI"/>
              </a:rPr>
              <a:t>ShareIT</a:t>
            </a:r>
            <a:r>
              <a:rPr sz="900" b="0" i="0" spc="100">
                <a:solidFill>
                  <a:srgbClr val="8A807C"/>
                </a:solidFill>
                <a:latin typeface="Segoe UI"/>
              </a:rPr>
              <a:t>  ·  Elsewedy Electric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37376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5653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48640"/>
            <a:ext cx="502920" cy="118872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220">
                <a:solidFill>
                  <a:srgbClr val="C4252A"/>
                </a:solidFill>
                <a:latin typeface="Segoe UI"/>
              </a:rPr>
              <a:t>ROLLOUT &amp;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698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01C1B"/>
                </a:solidFill>
                <a:latin typeface="Segoe UI"/>
              </a:rPr>
              <a:t>Simple to launch, unit by unit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38528"/>
            <a:ext cx="1280160" cy="32004"/>
          </a:xfrm>
          <a:prstGeom prst="rect">
            <a:avLst/>
          </a:prstGeom>
          <a:solidFill>
            <a:srgbClr val="E7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3300984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624328"/>
            <a:ext cx="384048" cy="82296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2752344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 i="0">
                <a:solidFill>
                  <a:srgbClr val="201C1B"/>
                </a:solidFill>
                <a:latin typeface="Segoe UI"/>
              </a:rPr>
              <a:t>1 · Pilot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5F5653"/>
                </a:solidFill>
                <a:latin typeface="Segoe UI"/>
              </a:rPr>
              <a:t>Launch in one business unit with a named sponsor and clear communication.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2331720"/>
            <a:ext cx="3300984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18304" y="2624328"/>
            <a:ext cx="384048" cy="82296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2834640"/>
            <a:ext cx="2752344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 i="0">
                <a:solidFill>
                  <a:srgbClr val="201C1B"/>
                </a:solidFill>
                <a:latin typeface="Segoe UI"/>
              </a:rPr>
              <a:t>2 · Learn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5F5653"/>
                </a:solidFill>
                <a:latin typeface="Segoe UI"/>
              </a:rPr>
              <a:t>Gather early submissions, refine the flow, and share the wins.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2331720"/>
            <a:ext cx="3300984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39328" y="2624328"/>
            <a:ext cx="384048" cy="82296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2834640"/>
            <a:ext cx="2752344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 i="0">
                <a:solidFill>
                  <a:srgbClr val="201C1B"/>
                </a:solidFill>
                <a:latin typeface="Segoe UI"/>
              </a:rPr>
              <a:t>3 · Scale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5F5653"/>
                </a:solidFill>
                <a:latin typeface="Segoe UI"/>
              </a:rPr>
              <a:t>Roll out across all business units with a consistent playbook.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80560"/>
            <a:ext cx="10543032" cy="137160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12700">
            <a:solidFill>
              <a:srgbClr val="E7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480560"/>
            <a:ext cx="82296" cy="1371600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681728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 i="0">
                <a:solidFill>
                  <a:srgbClr val="C4252A"/>
                </a:solidFill>
                <a:latin typeface="Segoe UI"/>
              </a:rPr>
              <a:t>The ask of leadership</a:t>
            </a:r>
          </a:p>
          <a:p>
            <a:pPr>
              <a:lnSpc>
                <a:spcPct val="120000"/>
              </a:lnSpc>
            </a:pPr>
            <a:r>
              <a:rPr sz="1500" b="0" i="0">
                <a:solidFill>
                  <a:srgbClr val="201C1B"/>
                </a:solidFill>
                <a:latin typeface="Segoe UI"/>
              </a:rPr>
              <a:t>Visible sponsorship, a short launch message to your teams, and encouragement to participate. Everything else, ShareIT handles.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3737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00">
                <a:solidFill>
                  <a:srgbClr val="C4252A"/>
                </a:solidFill>
                <a:latin typeface="Segoe UI"/>
              </a:rPr>
              <a:t>ShareIT</a:t>
            </a:r>
            <a:r>
              <a:rPr sz="900" b="0" i="0" spc="100">
                <a:solidFill>
                  <a:srgbClr val="8A807C"/>
                </a:solidFill>
                <a:latin typeface="Segoe UI"/>
              </a:rPr>
              <a:t>  ·  Elsewedy Electric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37376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5653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4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7373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220">
                <a:solidFill>
                  <a:srgbClr val="E8C9C7"/>
                </a:solidFill>
                <a:latin typeface="Segoe UI"/>
              </a:rPr>
              <a:t>SHAREIT  ·  ELSEWEDY ELECTRIC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86000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When people speak up,</a:t>
            </a:r>
          </a:p>
          <a:p>
            <a:pPr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the whole company grows.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2519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 i="0">
                <a:solidFill>
                  <a:srgbClr val="C9BEB9"/>
                </a:solidFill>
                <a:latin typeface="Segoe UI"/>
              </a:rPr>
              <a:t>Let's give every employee a voice — and act on what they tell 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9834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400" b="1" i="0">
                <a:solidFill>
                  <a:srgbClr val="C4252A"/>
                </a:solidFill>
                <a:latin typeface="Segoe UI"/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080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9A8F8A"/>
                </a:solidFill>
                <a:latin typeface="Segoe UI"/>
              </a:rPr>
              <a:t>Prepared by Marwan Elashry   ·   Supervisor: Eng. Hussein Abdelhalim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