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5523" r:id="rId2"/>
    <p:sldId id="5528" r:id="rId3"/>
    <p:sldId id="5533" r:id="rId4"/>
    <p:sldId id="5534" r:id="rId5"/>
    <p:sldId id="5537" r:id="rId6"/>
    <p:sldId id="5540" r:id="rId7"/>
    <p:sldId id="5539" r:id="rId8"/>
    <p:sldId id="5536" r:id="rId9"/>
    <p:sldId id="5538" r:id="rId10"/>
    <p:sldId id="5535" r:id="rId11"/>
    <p:sldId id="15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b Ali" initials="MA" lastIdx="1" clrIdx="0">
    <p:extLst>
      <p:ext uri="{19B8F6BF-5375-455C-9EA6-DF929625EA0E}">
        <p15:presenceInfo xmlns:p15="http://schemas.microsoft.com/office/powerpoint/2012/main" userId="S::mohab.ali@elsewedy.com::1545c644-994e-4653-afcf-c04b127b499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14" autoAdjust="0"/>
  </p:normalViewPr>
  <p:slideViewPr>
    <p:cSldViewPr snapToGrid="0">
      <p:cViewPr varScale="1">
        <p:scale>
          <a:sx n="88" d="100"/>
          <a:sy n="88" d="100"/>
        </p:scale>
        <p:origin x="466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3:11:50.874" idx="1">
    <p:pos x="2856" y="1624"/>
    <p:text>Optional (All employee data will be optional except BU &amp; Department)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67DD3-3771-4783-A241-5A133E1B07E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D1C75-FF41-4406-A019-2F9CEF972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6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D1C75-FF41-4406-A019-2F9CEF9721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03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Data: (Employee Code – Employee Name – Department – BU – Phone/Email)</a:t>
            </a:r>
          </a:p>
          <a:p>
            <a:r>
              <a:rPr lang="en-US" dirty="0"/>
              <a:t>Type: (Scope) / For Ideas ( Idea title – Description – Department Responsible for Implementation) + Impact: (Improve/save/reduce what.. - Scope of Project [Function/Department/Bu] - Describe the impact –  Sustain [ From 00 to 00].</a:t>
            </a:r>
          </a:p>
          <a:p>
            <a:r>
              <a:rPr lang="en-US" dirty="0"/>
              <a:t>Details: (Description)</a:t>
            </a:r>
          </a:p>
          <a:p>
            <a:r>
              <a:rPr lang="en-US" dirty="0"/>
              <a:t>Finish: Attachments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D1C75-FF41-4406-A019-2F9CEF9721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73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Data: (Employee Code – Employee Name – Department – BU – Phone/Email)</a:t>
            </a:r>
          </a:p>
          <a:p>
            <a:r>
              <a:rPr lang="en-US" dirty="0"/>
              <a:t>Type: (Scope) / For Ideas ( Idea title – Description – Department Responsible for Implementation) + Impact: (Improve/save/reduce what.. - Scope of Project [Function/Department/Bu] - Describe the impact –  Sustain [ From 00 to 00].</a:t>
            </a:r>
          </a:p>
          <a:p>
            <a:r>
              <a:rPr lang="en-US" dirty="0"/>
              <a:t>Details: (Description)</a:t>
            </a:r>
          </a:p>
          <a:p>
            <a:r>
              <a:rPr lang="en-US" dirty="0"/>
              <a:t>Finish: Attachments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D1C75-FF41-4406-A019-2F9CEF9721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52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Data: (Employee Code – Employee Name – Department – BU – Phone/Email)</a:t>
            </a:r>
          </a:p>
          <a:p>
            <a:r>
              <a:rPr lang="en-US" dirty="0"/>
              <a:t>Type: (Scope) / For Ideas ( Idea title – Description – Department Responsible for Implementation) + Impact: (Improve/save/reduce what.. - Scope of Project [Function/Department/Bu] - Describe the impact –  Sustain [ From 00 to 00].</a:t>
            </a:r>
          </a:p>
          <a:p>
            <a:r>
              <a:rPr lang="en-US" dirty="0"/>
              <a:t>Details: (Description)</a:t>
            </a:r>
          </a:p>
          <a:p>
            <a:r>
              <a:rPr lang="en-US" dirty="0"/>
              <a:t>Finish: Attachments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D1C75-FF41-4406-A019-2F9CEF9721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14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Data: (Employee Code – Employee Name – Department – BU – Phone/Email)</a:t>
            </a:r>
          </a:p>
          <a:p>
            <a:r>
              <a:rPr lang="en-US" dirty="0"/>
              <a:t>Type: (Scope) / For Ideas ( Idea title – Description – Department Responsible for Implementation) + Impact: (Improve/save/reduce what.. - Scope of Project [Function/Department/Bu] - Describe the impact –  Sustain [ From 00 to 00].</a:t>
            </a:r>
          </a:p>
          <a:p>
            <a:r>
              <a:rPr lang="en-US" dirty="0"/>
              <a:t>Details: (Description)</a:t>
            </a:r>
          </a:p>
          <a:p>
            <a:r>
              <a:rPr lang="en-US" dirty="0"/>
              <a:t>Finish: Attachments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D1C75-FF41-4406-A019-2F9CEF9721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0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Data: (Employee Code – Employee Name – Department – BU – Phone/Email)</a:t>
            </a:r>
          </a:p>
          <a:p>
            <a:r>
              <a:rPr lang="en-US" dirty="0"/>
              <a:t>Type: (Scope) / For Ideas ( Idea title – Description – Department Responsible for Implementation) + Impact: (Improve/save/reduce what.. - Scope of Project [Function/Department/Bu] - Describe the impact –  Sustain [ From 00 to 00].</a:t>
            </a:r>
          </a:p>
          <a:p>
            <a:r>
              <a:rPr lang="en-US" dirty="0"/>
              <a:t>Details: (Description)</a:t>
            </a:r>
          </a:p>
          <a:p>
            <a:r>
              <a:rPr lang="en-US" dirty="0"/>
              <a:t>Finish: Attachments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D1C75-FF41-4406-A019-2F9CEF9721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96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Data: (Employee Code – Employee Name – Department – BU – Phone/Email)</a:t>
            </a:r>
          </a:p>
          <a:p>
            <a:r>
              <a:rPr lang="en-US" dirty="0"/>
              <a:t>Type: (Scope) / For Ideas ( Idea title – Description – Department Responsible for Implementation) + Impact: (Improve/save/reduce what.. - Scope of Project [Function/Department/Bu] - Describe the impact –  Sustain [ From 00 to 00].</a:t>
            </a:r>
          </a:p>
          <a:p>
            <a:r>
              <a:rPr lang="en-US" dirty="0"/>
              <a:t>Details: (Description)</a:t>
            </a:r>
          </a:p>
          <a:p>
            <a:r>
              <a:rPr lang="en-US" dirty="0"/>
              <a:t>Finish: Attachments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D1C75-FF41-4406-A019-2F9CEF9721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39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Data: (Employee Code – Employee Name – Department – BU – Phone/Email)</a:t>
            </a:r>
          </a:p>
          <a:p>
            <a:r>
              <a:rPr lang="en-US" dirty="0"/>
              <a:t>Type: (Scope) / For Ideas ( Idea title – Description – Department Responsible for Implementation) + Impact: (Improve/save/reduce what.. - Scope of Project [Function/Department/Bu] - Describe the impact –  Sustain </a:t>
            </a:r>
            <a:r>
              <a:rPr lang="en-US"/>
              <a:t>[ From 00 to 00].</a:t>
            </a:r>
            <a:endParaRPr lang="en-US" dirty="0"/>
          </a:p>
          <a:p>
            <a:r>
              <a:rPr lang="en-US" dirty="0"/>
              <a:t>Details: (Description)</a:t>
            </a:r>
          </a:p>
          <a:p>
            <a:r>
              <a:rPr lang="en-US" dirty="0"/>
              <a:t>Finish: Attachments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D1C75-FF41-4406-A019-2F9CEF9721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50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526E-5E4A-B025-F90C-B83E101CE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F89EF0-D982-E2F5-87EB-DB623C990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6977F-EFC0-D53B-94EE-512AA072B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9155B-7EE8-5FB1-EB12-F0000E511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FCD11-75A9-7E5D-3D80-E1422431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8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D5078-A6F2-DCF7-6071-E1DDCDEB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99AC1-DBD3-CCAE-018A-515B10F41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B499F-CD9A-4539-3B2A-DCCAE68D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A461A-7EF4-13B9-E8A7-D2DBF4B7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78E1C-03A2-31CF-6A52-257336B4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9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1D43-CBBF-A00D-7D81-7AB78E2F6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4420A-0B39-FD45-5193-21CC21A81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03466-1879-7687-3D12-B4D423DF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CE016-5907-ED62-8C13-EB29F642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3DDC9-4613-E487-AA90-D50FEAA8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7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FDFB-A74D-B6F8-1B2D-044C68F0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837D7-6534-C955-E221-8D80BDEA3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A504B-4BF9-9807-C8D6-5F964DB2A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FF30F-283B-1C89-79E3-FBD3CB0D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6D0DF-D032-7141-6515-BAA35D89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D48B3-19F2-45FA-5DD0-7F156EC1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6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89873-B2C5-FBDE-E5DB-5C42B777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E2D46-63B0-9353-DA8D-5E32103DD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76ED3-38F7-6F88-AC56-C97AD8460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892B5-E6FF-202E-4312-631756757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DD8F9-27D1-F4CD-835A-3A93F2D83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F4C8AC-BE3D-13EB-2FCA-B02FAFC74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11E3B-0AEE-CFB0-7E51-2590CE3C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E226E6-E0A8-797D-DA53-ABB6EF4E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9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B6DB-1BA4-F989-3793-53C5DF7C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280A14-AB68-E257-B9E6-13A96A9C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A4D98-A127-59D2-2693-668E31F8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DB5DE-D7B0-F7A7-5A50-6B3A8B1A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B7DC8-13C4-13D1-31E9-A4D7EDA7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A931E-707D-1BA1-A9CE-1F5175828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ACC01-20E2-E42B-BE71-8B25582B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4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F6E2-ADE2-153E-310C-B9CB5C679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B6FFE-3D89-86F4-3C91-F6E0D424E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74CF8-4610-724C-0073-4F369B2F2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3FFD3-FACB-848E-D167-FC2D0FDA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A3106-694C-CDE3-8C70-76C2B60A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836C9-50B8-81C7-D294-322F95EE7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8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9234-8153-B8D1-89F0-7DCBDDC5C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E6C2B-F688-22B0-DECC-610847F00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A1DA1-20AF-F4FF-1F15-80DE0F010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462F4-41A5-9E70-D854-0A491906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7823D-BD2A-B0C0-1B75-BF07BC3EB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F7C70-D0A4-FE59-2984-88D92DE8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1B4DC-93D3-2C6E-FE17-8975EF9C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B2C09-42D5-F3D3-0463-11B9FE372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29EC0-4817-B01A-EC07-2D7B28D5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0A4A0-6A23-3324-4980-BEB5BE69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868F8-F7DE-5446-509B-51305DCB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4F135B-BE0D-9C68-7933-FFC9EBAED5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82CCA-A6D6-17AF-BEE4-5F60E2E0F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A33DB-637A-D579-2E64-B4A0A49D8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1C507-E6A5-FED9-FEB0-BF385454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51D4C-8934-DE77-A153-5AA8B676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19472-E7D2-E69A-5370-5BEC68F54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74" y="1326159"/>
            <a:ext cx="9133802" cy="477230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lnSpc>
                <a:spcPct val="150000"/>
              </a:lnSpc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lnSpc>
                <a:spcPct val="150000"/>
              </a:lnSpc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lnSpc>
                <a:spcPct val="150000"/>
              </a:lnSpc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lnSpc>
                <a:spcPct val="150000"/>
              </a:lnSpc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775EE37-5349-558C-AE10-0AC4E12868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510" y="310451"/>
            <a:ext cx="8064434" cy="40300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 spc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object 75">
            <a:extLst>
              <a:ext uri="{FF2B5EF4-FFF2-40B4-BE49-F238E27FC236}">
                <a16:creationId xmlns:a16="http://schemas.microsoft.com/office/drawing/2014/main" id="{A468D6DD-A857-F617-6E44-A598B9A56CD2}"/>
              </a:ext>
            </a:extLst>
          </p:cNvPr>
          <p:cNvSpPr/>
          <p:nvPr userDrawn="1"/>
        </p:nvSpPr>
        <p:spPr>
          <a:xfrm>
            <a:off x="430714" y="432000"/>
            <a:ext cx="73025" cy="180340"/>
          </a:xfrm>
          <a:custGeom>
            <a:avLst/>
            <a:gdLst/>
            <a:ahLst/>
            <a:cxnLst/>
            <a:rect l="l" t="t" r="r" b="b"/>
            <a:pathLst>
              <a:path w="73025" h="180340">
                <a:moveTo>
                  <a:pt x="72823" y="0"/>
                </a:moveTo>
                <a:lnTo>
                  <a:pt x="0" y="0"/>
                </a:lnTo>
                <a:lnTo>
                  <a:pt x="0" y="180000"/>
                </a:lnTo>
                <a:lnTo>
                  <a:pt x="72823" y="180000"/>
                </a:lnTo>
                <a:lnTo>
                  <a:pt x="7282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2E3B2-99AA-44CE-6C2F-B61B74AFAEB1}"/>
              </a:ext>
            </a:extLst>
          </p:cNvPr>
          <p:cNvSpPr/>
          <p:nvPr userDrawn="1"/>
        </p:nvSpPr>
        <p:spPr>
          <a:xfrm flipV="1">
            <a:off x="344411" y="6812280"/>
            <a:ext cx="1484387" cy="46817"/>
          </a:xfrm>
          <a:prstGeom prst="rect">
            <a:avLst/>
          </a:prstGeom>
          <a:solidFill>
            <a:srgbClr val="C00000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BE1E8A1-6A50-1E43-6FA0-F8431DBF159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4510" y="784432"/>
            <a:ext cx="8064434" cy="25928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11" name="Picture 10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266E512B-8FD3-4F73-911E-2249608662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3740" y="193716"/>
            <a:ext cx="2496060" cy="75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2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4E294E-A010-EE62-CE2A-202F82121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FCF4C-CFFF-669C-1F2D-8861FAE8C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1C4E9-EA3D-DA12-06AF-A9D42D193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48A85A-60EE-404E-8661-840C093395C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5E225-285E-3FA5-57AE-AF981CB54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21286-93D9-97DE-0CEB-8E10DD862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030366-75C7-B24F-A683-3B92A8750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18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56696-911C-8236-7889-79AC44778176}"/>
              </a:ext>
            </a:extLst>
          </p:cNvPr>
          <p:cNvSpPr/>
          <p:nvPr/>
        </p:nvSpPr>
        <p:spPr>
          <a:xfrm>
            <a:off x="0" y="0"/>
            <a:ext cx="12192000" cy="54478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997A14-F195-5F45-683A-C40A4BFBED3A}"/>
              </a:ext>
            </a:extLst>
          </p:cNvPr>
          <p:cNvSpPr/>
          <p:nvPr/>
        </p:nvSpPr>
        <p:spPr>
          <a:xfrm>
            <a:off x="0" y="5447841"/>
            <a:ext cx="12192000" cy="14927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F2C631-025A-DB29-C1CE-DC22D35E5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97" y="5517346"/>
            <a:ext cx="11625238" cy="9309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SpeakUp</a:t>
            </a:r>
            <a:br>
              <a:rPr lang="en-GB" sz="2800" b="1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</a:br>
            <a:r>
              <a:rPr lang="en-US" sz="1800" i="1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“</a:t>
            </a:r>
            <a:r>
              <a:rPr lang="en-US" sz="1800" i="1" dirty="0">
                <a:solidFill>
                  <a:schemeClr val="bg1"/>
                </a:solidFill>
                <a:latin typeface="Century Gothic" panose="020B0502020202020204" pitchFamily="34" charset="0"/>
              </a:rPr>
              <a:t>Provide a safe, easy and trusted channel”</a:t>
            </a:r>
            <a:br>
              <a:rPr lang="en-US" sz="1800" i="1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sz="1800" i="1" dirty="0">
                <a:solidFill>
                  <a:schemeClr val="bg1"/>
                </a:solidFill>
                <a:latin typeface="Century Gothic" panose="020B0502020202020204" pitchFamily="34" charset="0"/>
              </a:rPr>
              <a:t>ETC, ESC, UMC, Polymers, Cables Accessories &amp; ECMEI</a:t>
            </a:r>
          </a:p>
        </p:txBody>
      </p:sp>
      <p:pic>
        <p:nvPicPr>
          <p:cNvPr id="3" name="Picture 2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38684D92-9BBE-D08E-FD41-8E15D19EE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81" y="267244"/>
            <a:ext cx="3419177" cy="10350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35FB93-9FC6-B21C-AF88-F6206FA265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0392"/>
            <a:ext cx="12192000" cy="399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79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DC85-1A3A-1457-70E8-0BC73BCE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76">
            <a:extLst>
              <a:ext uri="{FF2B5EF4-FFF2-40B4-BE49-F238E27FC236}">
                <a16:creationId xmlns:a16="http://schemas.microsoft.com/office/drawing/2014/main" id="{7F1D9F86-2A0D-81A4-B459-C3D741A9656F}"/>
              </a:ext>
            </a:extLst>
          </p:cNvPr>
          <p:cNvSpPr txBox="1">
            <a:spLocks/>
          </p:cNvSpPr>
          <p:nvPr/>
        </p:nvSpPr>
        <p:spPr>
          <a:xfrm>
            <a:off x="595977" y="362564"/>
            <a:ext cx="757146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buNone/>
              <a:defRPr sz="2000" b="1" spc="-90">
                <a:solidFill>
                  <a:srgbClr val="00000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/>
              <a:t>SpeakUp Scope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B13606FF-CBED-3A45-333E-F81C39306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740" y="193716"/>
            <a:ext cx="2496060" cy="755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59D1AB-783F-4105-A60A-2688008062C1}"/>
              </a:ext>
            </a:extLst>
          </p:cNvPr>
          <p:cNvSpPr txBox="1"/>
          <p:nvPr/>
        </p:nvSpPr>
        <p:spPr>
          <a:xfrm>
            <a:off x="379666" y="949345"/>
            <a:ext cx="5195224" cy="4918398"/>
          </a:xfrm>
          <a:custGeom>
            <a:avLst/>
            <a:gdLst>
              <a:gd name="csX0" fmla="*/ 0 w 5195224"/>
              <a:gd name="csY0" fmla="*/ 0 h 4918398"/>
              <a:gd name="csX1" fmla="*/ 5195224 w 5195224"/>
              <a:gd name="csY1" fmla="*/ 0 h 4918398"/>
              <a:gd name="csX2" fmla="*/ 5195224 w 5195224"/>
              <a:gd name="csY2" fmla="*/ 4918398 h 4918398"/>
              <a:gd name="csX3" fmla="*/ 0 w 5195224"/>
              <a:gd name="csY3" fmla="*/ 4918398 h 4918398"/>
              <a:gd name="csX4" fmla="*/ 0 w 5195224"/>
              <a:gd name="csY4" fmla="*/ 0 h 49183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95224" h="4918398" extrusionOk="0">
                <a:moveTo>
                  <a:pt x="0" y="0"/>
                </a:moveTo>
                <a:cubicBezTo>
                  <a:pt x="1058680" y="137031"/>
                  <a:pt x="4217658" y="138961"/>
                  <a:pt x="5195224" y="0"/>
                </a:cubicBezTo>
                <a:cubicBezTo>
                  <a:pt x="5193650" y="2326139"/>
                  <a:pt x="5273561" y="4133204"/>
                  <a:pt x="5195224" y="4918398"/>
                </a:cubicBezTo>
                <a:cubicBezTo>
                  <a:pt x="3238261" y="4978740"/>
                  <a:pt x="2480211" y="4772568"/>
                  <a:pt x="0" y="4918398"/>
                </a:cubicBezTo>
                <a:cubicBezTo>
                  <a:pt x="-101235" y="4250540"/>
                  <a:pt x="-159794" y="153058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12916639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Issues (Operations/People/Process).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Ideas (Improvement/Productivity).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Project Proposal.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Safety Concern.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Employee Feedback / Complaint.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Digital Improvement / System Request.</a:t>
            </a: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4CCB03B1-9140-4EC8-855F-3C9797957EB0}"/>
              </a:ext>
            </a:extLst>
          </p:cNvPr>
          <p:cNvSpPr/>
          <p:nvPr/>
        </p:nvSpPr>
        <p:spPr>
          <a:xfrm>
            <a:off x="5574890" y="889625"/>
            <a:ext cx="285136" cy="5078750"/>
          </a:xfrm>
          <a:prstGeom prst="righ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D92ED5-418B-4D24-835D-F80BC6A0912B}"/>
              </a:ext>
            </a:extLst>
          </p:cNvPr>
          <p:cNvSpPr txBox="1"/>
          <p:nvPr/>
        </p:nvSpPr>
        <p:spPr>
          <a:xfrm>
            <a:off x="5948887" y="2922064"/>
            <a:ext cx="1956248" cy="609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Web portal + mobile-friendly view</a:t>
            </a:r>
          </a:p>
        </p:txBody>
      </p:sp>
    </p:spTree>
    <p:extLst>
      <p:ext uri="{BB962C8B-B14F-4D97-AF65-F5344CB8AC3E}">
        <p14:creationId xmlns:p14="http://schemas.microsoft.com/office/powerpoint/2010/main" val="352341765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DC85-1A3A-1457-70E8-0BC73BCE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76">
            <a:extLst>
              <a:ext uri="{FF2B5EF4-FFF2-40B4-BE49-F238E27FC236}">
                <a16:creationId xmlns:a16="http://schemas.microsoft.com/office/drawing/2014/main" id="{7F1D9F86-2A0D-81A4-B459-C3D741A9656F}"/>
              </a:ext>
            </a:extLst>
          </p:cNvPr>
          <p:cNvSpPr txBox="1">
            <a:spLocks/>
          </p:cNvSpPr>
          <p:nvPr/>
        </p:nvSpPr>
        <p:spPr>
          <a:xfrm>
            <a:off x="595977" y="362564"/>
            <a:ext cx="757146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buNone/>
              <a:defRPr sz="2000" b="1" spc="-90">
                <a:solidFill>
                  <a:srgbClr val="00000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/>
              <a:t>SpeakUp Needs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B13606FF-CBED-3A45-333E-F81C39306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740" y="193716"/>
            <a:ext cx="2496060" cy="755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59D1AB-783F-4105-A60A-2688008062C1}"/>
              </a:ext>
            </a:extLst>
          </p:cNvPr>
          <p:cNvSpPr txBox="1"/>
          <p:nvPr/>
        </p:nvSpPr>
        <p:spPr>
          <a:xfrm>
            <a:off x="493877" y="2142161"/>
            <a:ext cx="4205942" cy="3355919"/>
          </a:xfrm>
          <a:custGeom>
            <a:avLst/>
            <a:gdLst>
              <a:gd name="csX0" fmla="*/ 0 w 4205942"/>
              <a:gd name="csY0" fmla="*/ 0 h 3355919"/>
              <a:gd name="csX1" fmla="*/ 4205942 w 4205942"/>
              <a:gd name="csY1" fmla="*/ 0 h 3355919"/>
              <a:gd name="csX2" fmla="*/ 4205942 w 4205942"/>
              <a:gd name="csY2" fmla="*/ 3355919 h 3355919"/>
              <a:gd name="csX3" fmla="*/ 0 w 4205942"/>
              <a:gd name="csY3" fmla="*/ 3355919 h 3355919"/>
              <a:gd name="csX4" fmla="*/ 0 w 4205942"/>
              <a:gd name="csY4" fmla="*/ 0 h 33559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05942" h="3355919" extrusionOk="0">
                <a:moveTo>
                  <a:pt x="0" y="0"/>
                </a:moveTo>
                <a:cubicBezTo>
                  <a:pt x="1402314" y="6670"/>
                  <a:pt x="3723038" y="-123526"/>
                  <a:pt x="4205942" y="0"/>
                </a:cubicBezTo>
                <a:cubicBezTo>
                  <a:pt x="4059645" y="857076"/>
                  <a:pt x="4131686" y="2945270"/>
                  <a:pt x="4205942" y="3355919"/>
                </a:cubicBezTo>
                <a:cubicBezTo>
                  <a:pt x="2483135" y="3241536"/>
                  <a:pt x="1117945" y="3444048"/>
                  <a:pt x="0" y="3355919"/>
                </a:cubicBezTo>
                <a:cubicBezTo>
                  <a:pt x="106030" y="2885160"/>
                  <a:pt x="-81362" y="1397912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373800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Project sponsor: </a:t>
            </a: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Sector HR Director.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Project Owner: </a:t>
            </a: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Sector OD.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IT Projects &amp; Applications Manager: </a:t>
            </a: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Technical delivery, integrations, authentication.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HRBP (case owner): </a:t>
            </a: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People-related investigations and implementation.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HSE Manager: </a:t>
            </a: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Safety Escalations in Each BU.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Employees: </a:t>
            </a: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End users who submit and receive feedback.</a:t>
            </a:r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89708DCF-AB4B-4980-90E4-720FA3B2C745}"/>
              </a:ext>
            </a:extLst>
          </p:cNvPr>
          <p:cNvSpPr/>
          <p:nvPr/>
        </p:nvSpPr>
        <p:spPr>
          <a:xfrm rot="16200000">
            <a:off x="5148469" y="-2145034"/>
            <a:ext cx="182880" cy="7132320"/>
          </a:xfrm>
          <a:prstGeom prst="righ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6F7FD-D77B-4071-A11D-7E015C0D7C80}"/>
              </a:ext>
            </a:extLst>
          </p:cNvPr>
          <p:cNvSpPr txBox="1"/>
          <p:nvPr/>
        </p:nvSpPr>
        <p:spPr>
          <a:xfrm>
            <a:off x="59364" y="1647934"/>
            <a:ext cx="2536353" cy="371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Stakeholders &amp; Roles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3B1F6A-D9AE-44EC-A3DA-937EFD7CBAF9}"/>
              </a:ext>
            </a:extLst>
          </p:cNvPr>
          <p:cNvSpPr txBox="1"/>
          <p:nvPr/>
        </p:nvSpPr>
        <p:spPr>
          <a:xfrm>
            <a:off x="6558514" y="1680025"/>
            <a:ext cx="34904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Reporting &amp; dashboard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7411B6-BA61-4216-8EA8-20459A1C04C3}"/>
              </a:ext>
            </a:extLst>
          </p:cNvPr>
          <p:cNvSpPr txBox="1"/>
          <p:nvPr/>
        </p:nvSpPr>
        <p:spPr>
          <a:xfrm>
            <a:off x="6982058" y="2151967"/>
            <a:ext cx="4205942" cy="2617255"/>
          </a:xfrm>
          <a:custGeom>
            <a:avLst/>
            <a:gdLst>
              <a:gd name="csX0" fmla="*/ 0 w 4205942"/>
              <a:gd name="csY0" fmla="*/ 0 h 2617255"/>
              <a:gd name="csX1" fmla="*/ 4205942 w 4205942"/>
              <a:gd name="csY1" fmla="*/ 0 h 2617255"/>
              <a:gd name="csX2" fmla="*/ 4205942 w 4205942"/>
              <a:gd name="csY2" fmla="*/ 2617255 h 2617255"/>
              <a:gd name="csX3" fmla="*/ 0 w 4205942"/>
              <a:gd name="csY3" fmla="*/ 2617255 h 2617255"/>
              <a:gd name="csX4" fmla="*/ 0 w 4205942"/>
              <a:gd name="csY4" fmla="*/ 0 h 2617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05942" h="2617255" extrusionOk="0">
                <a:moveTo>
                  <a:pt x="0" y="0"/>
                </a:moveTo>
                <a:cubicBezTo>
                  <a:pt x="1402314" y="6670"/>
                  <a:pt x="3723038" y="-123526"/>
                  <a:pt x="4205942" y="0"/>
                </a:cubicBezTo>
                <a:cubicBezTo>
                  <a:pt x="4059645" y="694442"/>
                  <a:pt x="4131686" y="1318212"/>
                  <a:pt x="4205942" y="2617255"/>
                </a:cubicBezTo>
                <a:cubicBezTo>
                  <a:pt x="2483135" y="2502872"/>
                  <a:pt x="1117945" y="2705384"/>
                  <a:pt x="0" y="2617255"/>
                </a:cubicBezTo>
                <a:cubicBezTo>
                  <a:pt x="106030" y="2043338"/>
                  <a:pt x="-81362" y="913746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373800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Submissions by BU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(Bar Chart).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Submissions by type &amp; category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(Stacked Bar).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Top 10 Recurring Issues.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Status Breakdown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(New / In Review / Actioned / Closed)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2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57224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DC85-1A3A-1457-70E8-0BC73BCE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76">
            <a:extLst>
              <a:ext uri="{FF2B5EF4-FFF2-40B4-BE49-F238E27FC236}">
                <a16:creationId xmlns:a16="http://schemas.microsoft.com/office/drawing/2014/main" id="{7F1D9F86-2A0D-81A4-B459-C3D741A9656F}"/>
              </a:ext>
            </a:extLst>
          </p:cNvPr>
          <p:cNvSpPr txBox="1">
            <a:spLocks/>
          </p:cNvSpPr>
          <p:nvPr/>
        </p:nvSpPr>
        <p:spPr>
          <a:xfrm>
            <a:off x="595977" y="362564"/>
            <a:ext cx="757146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buNone/>
              <a:defRPr sz="2000" b="1" spc="-90">
                <a:solidFill>
                  <a:srgbClr val="00000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/>
              <a:t>SpeakUp Flow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B13606FF-CBED-3A45-333E-F81C39306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740" y="193716"/>
            <a:ext cx="2496060" cy="755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4C065B-391B-4C98-9E99-4D625BDCFE08}"/>
              </a:ext>
            </a:extLst>
          </p:cNvPr>
          <p:cNvSpPr txBox="1"/>
          <p:nvPr/>
        </p:nvSpPr>
        <p:spPr>
          <a:xfrm>
            <a:off x="9073379" y="3087587"/>
            <a:ext cx="2219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latin typeface="Verdana" panose="020B0604030504040204" pitchFamily="34" charset="0"/>
                <a:ea typeface="Verdana" panose="020B0604030504040204" pitchFamily="34" charset="0"/>
              </a:rPr>
              <a:t>Retention: </a:t>
            </a:r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5 Year for suggestions)</a:t>
            </a:r>
            <a:r>
              <a:rPr lang="en-US" dirty="0"/>
              <a:t>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E657FD8-1212-4D43-98B2-E6FAB93773DA}"/>
              </a:ext>
            </a:extLst>
          </p:cNvPr>
          <p:cNvSpPr/>
          <p:nvPr/>
        </p:nvSpPr>
        <p:spPr>
          <a:xfrm>
            <a:off x="5778043" y="1455891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Type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5E04D7B-819E-45A5-97EE-5611FEE1CB5C}"/>
              </a:ext>
            </a:extLst>
          </p:cNvPr>
          <p:cNvSpPr/>
          <p:nvPr/>
        </p:nvSpPr>
        <p:spPr>
          <a:xfrm>
            <a:off x="6099319" y="2332741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Issue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7CFDB5A-8940-4420-893A-66E2F2964CF4}"/>
              </a:ext>
            </a:extLst>
          </p:cNvPr>
          <p:cNvSpPr/>
          <p:nvPr/>
        </p:nvSpPr>
        <p:spPr>
          <a:xfrm>
            <a:off x="6099319" y="2832953"/>
            <a:ext cx="1578812" cy="390825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Idea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5939EDB-998C-4670-A2F2-98EFD37FC41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54668" y="3566195"/>
            <a:ext cx="2762876" cy="1346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E38E373-C707-47EE-AC9F-EC05A559E885}"/>
              </a:ext>
            </a:extLst>
          </p:cNvPr>
          <p:cNvCxnSpPr>
            <a:endCxn id="31" idx="1"/>
          </p:cNvCxnSpPr>
          <p:nvPr/>
        </p:nvCxnSpPr>
        <p:spPr>
          <a:xfrm>
            <a:off x="5968777" y="2528153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09C120C-B67B-4D90-9026-100330D685E5}"/>
              </a:ext>
            </a:extLst>
          </p:cNvPr>
          <p:cNvCxnSpPr>
            <a:cxnSpLocks/>
          </p:cNvCxnSpPr>
          <p:nvPr/>
        </p:nvCxnSpPr>
        <p:spPr>
          <a:xfrm>
            <a:off x="5972893" y="3038901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9795921-B952-47B2-9162-941E9A2E9DBA}"/>
              </a:ext>
            </a:extLst>
          </p:cNvPr>
          <p:cNvSpPr/>
          <p:nvPr/>
        </p:nvSpPr>
        <p:spPr>
          <a:xfrm>
            <a:off x="3172767" y="1455891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Employee Details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EFD4FC6-A112-47BB-A15A-029B943CEDC4}"/>
              </a:ext>
            </a:extLst>
          </p:cNvPr>
          <p:cNvSpPr/>
          <p:nvPr/>
        </p:nvSpPr>
        <p:spPr>
          <a:xfrm>
            <a:off x="3494043" y="2332741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Code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AB5AC4D-83A6-4AF5-94BD-0E7ADC90B1D0}"/>
              </a:ext>
            </a:extLst>
          </p:cNvPr>
          <p:cNvSpPr/>
          <p:nvPr/>
        </p:nvSpPr>
        <p:spPr>
          <a:xfrm>
            <a:off x="3494043" y="2832953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Name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6BC5650-D458-4A31-AEB8-46B8C59D2E1F}"/>
              </a:ext>
            </a:extLst>
          </p:cNvPr>
          <p:cNvSpPr/>
          <p:nvPr/>
        </p:nvSpPr>
        <p:spPr>
          <a:xfrm>
            <a:off x="3494043" y="4322900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Phone/Email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5A58354-8C55-4669-9DB0-CB5587C8182C}"/>
              </a:ext>
            </a:extLst>
          </p:cNvPr>
          <p:cNvSpPr/>
          <p:nvPr/>
        </p:nvSpPr>
        <p:spPr>
          <a:xfrm>
            <a:off x="3494043" y="3826251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BU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2E37DB3-898E-4960-B80D-8EE66E07A6CC}"/>
              </a:ext>
            </a:extLst>
          </p:cNvPr>
          <p:cNvSpPr/>
          <p:nvPr/>
        </p:nvSpPr>
        <p:spPr>
          <a:xfrm>
            <a:off x="3494043" y="3329602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Department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D0EC9BB-F686-4DD2-AAC6-298FF61B9226}"/>
              </a:ext>
            </a:extLst>
          </p:cNvPr>
          <p:cNvCxnSpPr>
            <a:endCxn id="51" idx="1"/>
          </p:cNvCxnSpPr>
          <p:nvPr/>
        </p:nvCxnSpPr>
        <p:spPr>
          <a:xfrm rot="16200000" flipH="1">
            <a:off x="2286799" y="3311068"/>
            <a:ext cx="2283947" cy="1305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2FCA63-59BB-4BAA-9D48-BD8617B7C1B3}"/>
              </a:ext>
            </a:extLst>
          </p:cNvPr>
          <p:cNvCxnSpPr>
            <a:endCxn id="49" idx="1"/>
          </p:cNvCxnSpPr>
          <p:nvPr/>
        </p:nvCxnSpPr>
        <p:spPr>
          <a:xfrm>
            <a:off x="3363501" y="2528153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005732C-6BC5-4E5B-92AC-9388FD3DB958}"/>
              </a:ext>
            </a:extLst>
          </p:cNvPr>
          <p:cNvCxnSpPr>
            <a:cxnSpLocks/>
          </p:cNvCxnSpPr>
          <p:nvPr/>
        </p:nvCxnSpPr>
        <p:spPr>
          <a:xfrm>
            <a:off x="3367617" y="3038901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23C79C4-BB0B-46A7-BDB9-5E8C0764F237}"/>
              </a:ext>
            </a:extLst>
          </p:cNvPr>
          <p:cNvCxnSpPr>
            <a:cxnSpLocks/>
          </p:cNvCxnSpPr>
          <p:nvPr/>
        </p:nvCxnSpPr>
        <p:spPr>
          <a:xfrm>
            <a:off x="3367617" y="3524819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F7AC26-E3E3-4433-A3B1-768C17677BF4}"/>
              </a:ext>
            </a:extLst>
          </p:cNvPr>
          <p:cNvCxnSpPr>
            <a:cxnSpLocks/>
          </p:cNvCxnSpPr>
          <p:nvPr/>
        </p:nvCxnSpPr>
        <p:spPr>
          <a:xfrm>
            <a:off x="3359386" y="4021467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15702CD-A992-4807-A792-626B396331C1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4751578" y="1845129"/>
            <a:ext cx="1005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E950664-9A91-426A-BCE1-8C6166B82F3D}"/>
              </a:ext>
            </a:extLst>
          </p:cNvPr>
          <p:cNvSpPr/>
          <p:nvPr/>
        </p:nvSpPr>
        <p:spPr>
          <a:xfrm>
            <a:off x="6099319" y="4322898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 Feedback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FE24E88-0E65-4C78-BDC6-9D55FC45E6DB}"/>
              </a:ext>
            </a:extLst>
          </p:cNvPr>
          <p:cNvSpPr/>
          <p:nvPr/>
        </p:nvSpPr>
        <p:spPr>
          <a:xfrm>
            <a:off x="6099319" y="3826251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Safety Concern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172D2FA-DB88-4DB7-9659-1B5D49EFEAC8}"/>
              </a:ext>
            </a:extLst>
          </p:cNvPr>
          <p:cNvSpPr/>
          <p:nvPr/>
        </p:nvSpPr>
        <p:spPr>
          <a:xfrm>
            <a:off x="6099319" y="3329602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Project Proposal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9C15460-B02F-4A2F-BBBF-476B9A45AAD0}"/>
              </a:ext>
            </a:extLst>
          </p:cNvPr>
          <p:cNvCxnSpPr>
            <a:cxnSpLocks/>
          </p:cNvCxnSpPr>
          <p:nvPr/>
        </p:nvCxnSpPr>
        <p:spPr>
          <a:xfrm>
            <a:off x="5972893" y="3524819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4DB41F4-4525-4776-945B-BB73EF3C01DC}"/>
              </a:ext>
            </a:extLst>
          </p:cNvPr>
          <p:cNvCxnSpPr>
            <a:cxnSpLocks/>
          </p:cNvCxnSpPr>
          <p:nvPr/>
        </p:nvCxnSpPr>
        <p:spPr>
          <a:xfrm>
            <a:off x="5964662" y="4021467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643CBA8-CE71-49AF-BBEF-714A0C70C248}"/>
              </a:ext>
            </a:extLst>
          </p:cNvPr>
          <p:cNvCxnSpPr>
            <a:cxnSpLocks/>
          </p:cNvCxnSpPr>
          <p:nvPr/>
        </p:nvCxnSpPr>
        <p:spPr>
          <a:xfrm>
            <a:off x="5964027" y="4532214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172C827E-770A-490A-B6FC-B4EF38DD7779}"/>
              </a:ext>
            </a:extLst>
          </p:cNvPr>
          <p:cNvSpPr/>
          <p:nvPr/>
        </p:nvSpPr>
        <p:spPr>
          <a:xfrm>
            <a:off x="6103435" y="4819549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Sys Request</a:t>
            </a:r>
          </a:p>
        </p:txBody>
      </p:sp>
    </p:spTree>
    <p:extLst>
      <p:ext uri="{BB962C8B-B14F-4D97-AF65-F5344CB8AC3E}">
        <p14:creationId xmlns:p14="http://schemas.microsoft.com/office/powerpoint/2010/main" val="318224745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DC85-1A3A-1457-70E8-0BC73BCE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76">
            <a:extLst>
              <a:ext uri="{FF2B5EF4-FFF2-40B4-BE49-F238E27FC236}">
                <a16:creationId xmlns:a16="http://schemas.microsoft.com/office/drawing/2014/main" id="{7F1D9F86-2A0D-81A4-B459-C3D741A9656F}"/>
              </a:ext>
            </a:extLst>
          </p:cNvPr>
          <p:cNvSpPr txBox="1">
            <a:spLocks/>
          </p:cNvSpPr>
          <p:nvPr/>
        </p:nvSpPr>
        <p:spPr>
          <a:xfrm>
            <a:off x="595977" y="362564"/>
            <a:ext cx="757146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buNone/>
              <a:defRPr sz="2000" b="1" spc="-90">
                <a:solidFill>
                  <a:srgbClr val="00000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/>
              <a:t>SpeakUp Flow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B13606FF-CBED-3A45-333E-F81C39306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740" y="193716"/>
            <a:ext cx="2496060" cy="755629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E657FD8-1212-4D43-98B2-E6FAB93773DA}"/>
              </a:ext>
            </a:extLst>
          </p:cNvPr>
          <p:cNvSpPr/>
          <p:nvPr/>
        </p:nvSpPr>
        <p:spPr>
          <a:xfrm>
            <a:off x="4697645" y="1700948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Type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5E04D7B-819E-45A5-97EE-5611FEE1CB5C}"/>
              </a:ext>
            </a:extLst>
          </p:cNvPr>
          <p:cNvSpPr/>
          <p:nvPr/>
        </p:nvSpPr>
        <p:spPr>
          <a:xfrm>
            <a:off x="5018921" y="2577798"/>
            <a:ext cx="1578812" cy="39082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Issue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5939EDB-998C-4670-A2F2-98EFD37FC41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15616" y="2561438"/>
            <a:ext cx="276070" cy="13054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9795921-B952-47B2-9162-941E9A2E9DBA}"/>
              </a:ext>
            </a:extLst>
          </p:cNvPr>
          <p:cNvSpPr/>
          <p:nvPr/>
        </p:nvSpPr>
        <p:spPr>
          <a:xfrm>
            <a:off x="2634236" y="1700948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Employee Details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EFD4FC6-A112-47BB-A15A-029B943CEDC4}"/>
              </a:ext>
            </a:extLst>
          </p:cNvPr>
          <p:cNvSpPr/>
          <p:nvPr/>
        </p:nvSpPr>
        <p:spPr>
          <a:xfrm>
            <a:off x="2955512" y="2577798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Code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AB5AC4D-83A6-4AF5-94BD-0E7ADC90B1D0}"/>
              </a:ext>
            </a:extLst>
          </p:cNvPr>
          <p:cNvSpPr/>
          <p:nvPr/>
        </p:nvSpPr>
        <p:spPr>
          <a:xfrm>
            <a:off x="2955512" y="3078010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Name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6BC5650-D458-4A31-AEB8-46B8C59D2E1F}"/>
              </a:ext>
            </a:extLst>
          </p:cNvPr>
          <p:cNvSpPr/>
          <p:nvPr/>
        </p:nvSpPr>
        <p:spPr>
          <a:xfrm>
            <a:off x="2955512" y="4567957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Phone/Email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5A58354-8C55-4669-9DB0-CB5587C8182C}"/>
              </a:ext>
            </a:extLst>
          </p:cNvPr>
          <p:cNvSpPr/>
          <p:nvPr/>
        </p:nvSpPr>
        <p:spPr>
          <a:xfrm>
            <a:off x="2955512" y="4071308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BU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2E37DB3-898E-4960-B80D-8EE66E07A6CC}"/>
              </a:ext>
            </a:extLst>
          </p:cNvPr>
          <p:cNvSpPr/>
          <p:nvPr/>
        </p:nvSpPr>
        <p:spPr>
          <a:xfrm>
            <a:off x="2955512" y="3574659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Department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D0EC9BB-F686-4DD2-AAC6-298FF61B9226}"/>
              </a:ext>
            </a:extLst>
          </p:cNvPr>
          <p:cNvCxnSpPr>
            <a:endCxn id="51" idx="1"/>
          </p:cNvCxnSpPr>
          <p:nvPr/>
        </p:nvCxnSpPr>
        <p:spPr>
          <a:xfrm rot="16200000" flipH="1">
            <a:off x="1748268" y="3556125"/>
            <a:ext cx="2283947" cy="1305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2FCA63-59BB-4BAA-9D48-BD8617B7C1B3}"/>
              </a:ext>
            </a:extLst>
          </p:cNvPr>
          <p:cNvCxnSpPr>
            <a:endCxn id="49" idx="1"/>
          </p:cNvCxnSpPr>
          <p:nvPr/>
        </p:nvCxnSpPr>
        <p:spPr>
          <a:xfrm>
            <a:off x="2824970" y="2773210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005732C-6BC5-4E5B-92AC-9388FD3DB958}"/>
              </a:ext>
            </a:extLst>
          </p:cNvPr>
          <p:cNvCxnSpPr/>
          <p:nvPr/>
        </p:nvCxnSpPr>
        <p:spPr>
          <a:xfrm>
            <a:off x="2829086" y="3283958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23C79C4-BB0B-46A7-BDB9-5E8C0764F237}"/>
              </a:ext>
            </a:extLst>
          </p:cNvPr>
          <p:cNvCxnSpPr/>
          <p:nvPr/>
        </p:nvCxnSpPr>
        <p:spPr>
          <a:xfrm>
            <a:off x="2829086" y="3769876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F7AC26-E3E3-4433-A3B1-768C17677BF4}"/>
              </a:ext>
            </a:extLst>
          </p:cNvPr>
          <p:cNvCxnSpPr/>
          <p:nvPr/>
        </p:nvCxnSpPr>
        <p:spPr>
          <a:xfrm>
            <a:off x="2820855" y="4266524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15702CD-A992-4807-A792-626B396331C1}"/>
              </a:ext>
            </a:extLst>
          </p:cNvPr>
          <p:cNvCxnSpPr>
            <a:stCxn id="48" idx="3"/>
            <a:endCxn id="30" idx="1"/>
          </p:cNvCxnSpPr>
          <p:nvPr/>
        </p:nvCxnSpPr>
        <p:spPr>
          <a:xfrm>
            <a:off x="4213048" y="2090186"/>
            <a:ext cx="484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34EA250-714A-4299-8329-973633C29FCE}"/>
              </a:ext>
            </a:extLst>
          </p:cNvPr>
          <p:cNvSpPr/>
          <p:nvPr/>
        </p:nvSpPr>
        <p:spPr>
          <a:xfrm>
            <a:off x="6876553" y="2660840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Issue Title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7FD228C-5028-4952-8E47-4AE897CF59BC}"/>
              </a:ext>
            </a:extLst>
          </p:cNvPr>
          <p:cNvSpPr/>
          <p:nvPr/>
        </p:nvSpPr>
        <p:spPr>
          <a:xfrm>
            <a:off x="6876553" y="3161052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Issue Type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B588F26-8807-4C7C-9C86-71B7925AD04D}"/>
              </a:ext>
            </a:extLst>
          </p:cNvPr>
          <p:cNvSpPr/>
          <p:nvPr/>
        </p:nvSpPr>
        <p:spPr>
          <a:xfrm>
            <a:off x="6876553" y="4650999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Responsible Department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B9CBEDD-9109-4C9D-A837-FCBF023B8861}"/>
              </a:ext>
            </a:extLst>
          </p:cNvPr>
          <p:cNvSpPr/>
          <p:nvPr/>
        </p:nvSpPr>
        <p:spPr>
          <a:xfrm>
            <a:off x="6876553" y="4154350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Impact Area 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F27E9F8-1E48-4F5E-BDE7-87656FBF9B9D}"/>
              </a:ext>
            </a:extLst>
          </p:cNvPr>
          <p:cNvSpPr/>
          <p:nvPr/>
        </p:nvSpPr>
        <p:spPr>
          <a:xfrm>
            <a:off x="6876553" y="3657701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Description of the Problem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B33461B-CC58-47E9-B80C-6D8FA0C82C80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6597733" y="2773891"/>
            <a:ext cx="282936" cy="31089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A07015-C756-4A67-859A-77CB236092C7}"/>
              </a:ext>
            </a:extLst>
          </p:cNvPr>
          <p:cNvCxnSpPr>
            <a:endCxn id="65" idx="1"/>
          </p:cNvCxnSpPr>
          <p:nvPr/>
        </p:nvCxnSpPr>
        <p:spPr>
          <a:xfrm>
            <a:off x="6746011" y="2856252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60DB3DF-4515-408E-A5A6-5E061F77A94F}"/>
              </a:ext>
            </a:extLst>
          </p:cNvPr>
          <p:cNvCxnSpPr/>
          <p:nvPr/>
        </p:nvCxnSpPr>
        <p:spPr>
          <a:xfrm>
            <a:off x="6750127" y="3367000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F2AE81D-DB28-4203-BDB0-98BF17AB9BDF}"/>
              </a:ext>
            </a:extLst>
          </p:cNvPr>
          <p:cNvCxnSpPr/>
          <p:nvPr/>
        </p:nvCxnSpPr>
        <p:spPr>
          <a:xfrm>
            <a:off x="6750127" y="3852918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A4D1779-576E-4495-BFDE-5F7E5659C076}"/>
              </a:ext>
            </a:extLst>
          </p:cNvPr>
          <p:cNvCxnSpPr/>
          <p:nvPr/>
        </p:nvCxnSpPr>
        <p:spPr>
          <a:xfrm>
            <a:off x="6741896" y="4349566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1A63BB0-6D57-4B58-81B1-22E52193E716}"/>
              </a:ext>
            </a:extLst>
          </p:cNvPr>
          <p:cNvCxnSpPr/>
          <p:nvPr/>
        </p:nvCxnSpPr>
        <p:spPr>
          <a:xfrm>
            <a:off x="6741261" y="4860313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32D7A86-A104-455D-9848-62351FD477AC}"/>
              </a:ext>
            </a:extLst>
          </p:cNvPr>
          <p:cNvSpPr/>
          <p:nvPr/>
        </p:nvSpPr>
        <p:spPr>
          <a:xfrm>
            <a:off x="6880669" y="5147648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Root Cause (if known)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13BB963-78A7-44ED-9055-2DBDE8923B08}"/>
              </a:ext>
            </a:extLst>
          </p:cNvPr>
          <p:cNvSpPr/>
          <p:nvPr/>
        </p:nvSpPr>
        <p:spPr>
          <a:xfrm>
            <a:off x="8647686" y="4160843"/>
            <a:ext cx="2490910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(Production / Quality / SLA / Cost / Delivery)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19347E5-70AE-4089-A1C4-9DA6A20CC207}"/>
              </a:ext>
            </a:extLst>
          </p:cNvPr>
          <p:cNvCxnSpPr/>
          <p:nvPr/>
        </p:nvCxnSpPr>
        <p:spPr>
          <a:xfrm>
            <a:off x="8459656" y="4373956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BD35DCF-7955-4659-89A2-68A14121DB8F}"/>
              </a:ext>
            </a:extLst>
          </p:cNvPr>
          <p:cNvSpPr/>
          <p:nvPr/>
        </p:nvSpPr>
        <p:spPr>
          <a:xfrm>
            <a:off x="6871803" y="5658393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Proposed Solution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83BF872-D747-498A-B3BC-18A88A04E2D7}"/>
              </a:ext>
            </a:extLst>
          </p:cNvPr>
          <p:cNvCxnSpPr/>
          <p:nvPr/>
        </p:nvCxnSpPr>
        <p:spPr>
          <a:xfrm>
            <a:off x="6758185" y="5371059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B3A6BB1-73B2-4542-BD01-B04FDC5B056A}"/>
              </a:ext>
            </a:extLst>
          </p:cNvPr>
          <p:cNvCxnSpPr/>
          <p:nvPr/>
        </p:nvCxnSpPr>
        <p:spPr>
          <a:xfrm>
            <a:off x="6597733" y="3266077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BD20420-104D-4EE7-821F-62F0A5576160}"/>
              </a:ext>
            </a:extLst>
          </p:cNvPr>
          <p:cNvSpPr/>
          <p:nvPr/>
        </p:nvSpPr>
        <p:spPr>
          <a:xfrm>
            <a:off x="8642536" y="3158538"/>
            <a:ext cx="2496060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(Operational / People / Process / Material / Equipment)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24EC92F-9A58-405F-A586-9B24B2B8AB0F}"/>
              </a:ext>
            </a:extLst>
          </p:cNvPr>
          <p:cNvCxnSpPr/>
          <p:nvPr/>
        </p:nvCxnSpPr>
        <p:spPr>
          <a:xfrm>
            <a:off x="8454506" y="3371651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87508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DC85-1A3A-1457-70E8-0BC73BCE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76">
            <a:extLst>
              <a:ext uri="{FF2B5EF4-FFF2-40B4-BE49-F238E27FC236}">
                <a16:creationId xmlns:a16="http://schemas.microsoft.com/office/drawing/2014/main" id="{7F1D9F86-2A0D-81A4-B459-C3D741A9656F}"/>
              </a:ext>
            </a:extLst>
          </p:cNvPr>
          <p:cNvSpPr txBox="1">
            <a:spLocks/>
          </p:cNvSpPr>
          <p:nvPr/>
        </p:nvSpPr>
        <p:spPr>
          <a:xfrm>
            <a:off x="595977" y="362564"/>
            <a:ext cx="757146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buNone/>
              <a:defRPr sz="2000" b="1" spc="-90">
                <a:solidFill>
                  <a:srgbClr val="00000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/>
              <a:t>SpeakUp Flow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B13606FF-CBED-3A45-333E-F81C39306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740" y="193716"/>
            <a:ext cx="2496060" cy="755629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E657FD8-1212-4D43-98B2-E6FAB93773DA}"/>
              </a:ext>
            </a:extLst>
          </p:cNvPr>
          <p:cNvSpPr/>
          <p:nvPr/>
        </p:nvSpPr>
        <p:spPr>
          <a:xfrm>
            <a:off x="4697645" y="1700948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Type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5E04D7B-819E-45A5-97EE-5611FEE1CB5C}"/>
              </a:ext>
            </a:extLst>
          </p:cNvPr>
          <p:cNvSpPr/>
          <p:nvPr/>
        </p:nvSpPr>
        <p:spPr>
          <a:xfrm>
            <a:off x="5018921" y="2577798"/>
            <a:ext cx="1578812" cy="39082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Idea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5939EDB-998C-4670-A2F2-98EFD37FC41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15616" y="2561438"/>
            <a:ext cx="276070" cy="13054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9795921-B952-47B2-9162-941E9A2E9DBA}"/>
              </a:ext>
            </a:extLst>
          </p:cNvPr>
          <p:cNvSpPr/>
          <p:nvPr/>
        </p:nvSpPr>
        <p:spPr>
          <a:xfrm>
            <a:off x="2634236" y="1700948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Employee Details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EFD4FC6-A112-47BB-A15A-029B943CEDC4}"/>
              </a:ext>
            </a:extLst>
          </p:cNvPr>
          <p:cNvSpPr/>
          <p:nvPr/>
        </p:nvSpPr>
        <p:spPr>
          <a:xfrm>
            <a:off x="2955512" y="2577798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Code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AB5AC4D-83A6-4AF5-94BD-0E7ADC90B1D0}"/>
              </a:ext>
            </a:extLst>
          </p:cNvPr>
          <p:cNvSpPr/>
          <p:nvPr/>
        </p:nvSpPr>
        <p:spPr>
          <a:xfrm>
            <a:off x="2955512" y="3078010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Name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6BC5650-D458-4A31-AEB8-46B8C59D2E1F}"/>
              </a:ext>
            </a:extLst>
          </p:cNvPr>
          <p:cNvSpPr/>
          <p:nvPr/>
        </p:nvSpPr>
        <p:spPr>
          <a:xfrm>
            <a:off x="2955512" y="4567957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Phone/Email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5A58354-8C55-4669-9DB0-CB5587C8182C}"/>
              </a:ext>
            </a:extLst>
          </p:cNvPr>
          <p:cNvSpPr/>
          <p:nvPr/>
        </p:nvSpPr>
        <p:spPr>
          <a:xfrm>
            <a:off x="2955512" y="4071308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BU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2E37DB3-898E-4960-B80D-8EE66E07A6CC}"/>
              </a:ext>
            </a:extLst>
          </p:cNvPr>
          <p:cNvSpPr/>
          <p:nvPr/>
        </p:nvSpPr>
        <p:spPr>
          <a:xfrm>
            <a:off x="2955512" y="3574659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Department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D0EC9BB-F686-4DD2-AAC6-298FF61B9226}"/>
              </a:ext>
            </a:extLst>
          </p:cNvPr>
          <p:cNvCxnSpPr>
            <a:endCxn id="51" idx="1"/>
          </p:cNvCxnSpPr>
          <p:nvPr/>
        </p:nvCxnSpPr>
        <p:spPr>
          <a:xfrm rot="16200000" flipH="1">
            <a:off x="1748268" y="3556125"/>
            <a:ext cx="2283947" cy="1305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2FCA63-59BB-4BAA-9D48-BD8617B7C1B3}"/>
              </a:ext>
            </a:extLst>
          </p:cNvPr>
          <p:cNvCxnSpPr>
            <a:endCxn id="49" idx="1"/>
          </p:cNvCxnSpPr>
          <p:nvPr/>
        </p:nvCxnSpPr>
        <p:spPr>
          <a:xfrm>
            <a:off x="2824970" y="2773210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005732C-6BC5-4E5B-92AC-9388FD3DB958}"/>
              </a:ext>
            </a:extLst>
          </p:cNvPr>
          <p:cNvCxnSpPr/>
          <p:nvPr/>
        </p:nvCxnSpPr>
        <p:spPr>
          <a:xfrm>
            <a:off x="2829086" y="3283958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23C79C4-BB0B-46A7-BDB9-5E8C0764F237}"/>
              </a:ext>
            </a:extLst>
          </p:cNvPr>
          <p:cNvCxnSpPr/>
          <p:nvPr/>
        </p:nvCxnSpPr>
        <p:spPr>
          <a:xfrm>
            <a:off x="2829086" y="3769876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F7AC26-E3E3-4433-A3B1-768C17677BF4}"/>
              </a:ext>
            </a:extLst>
          </p:cNvPr>
          <p:cNvCxnSpPr/>
          <p:nvPr/>
        </p:nvCxnSpPr>
        <p:spPr>
          <a:xfrm>
            <a:off x="2820855" y="4266524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15702CD-A992-4807-A792-626B396331C1}"/>
              </a:ext>
            </a:extLst>
          </p:cNvPr>
          <p:cNvCxnSpPr>
            <a:stCxn id="48" idx="3"/>
            <a:endCxn id="30" idx="1"/>
          </p:cNvCxnSpPr>
          <p:nvPr/>
        </p:nvCxnSpPr>
        <p:spPr>
          <a:xfrm>
            <a:off x="4213048" y="2090186"/>
            <a:ext cx="484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34EA250-714A-4299-8329-973633C29FCE}"/>
              </a:ext>
            </a:extLst>
          </p:cNvPr>
          <p:cNvSpPr/>
          <p:nvPr/>
        </p:nvSpPr>
        <p:spPr>
          <a:xfrm>
            <a:off x="6876553" y="2660840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Idea/Project Title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7FD228C-5028-4952-8E47-4AE897CF59BC}"/>
              </a:ext>
            </a:extLst>
          </p:cNvPr>
          <p:cNvSpPr/>
          <p:nvPr/>
        </p:nvSpPr>
        <p:spPr>
          <a:xfrm>
            <a:off x="6876553" y="3161052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Description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B588F26-8807-4C7C-9C86-71B7925AD04D}"/>
              </a:ext>
            </a:extLst>
          </p:cNvPr>
          <p:cNvSpPr/>
          <p:nvPr/>
        </p:nvSpPr>
        <p:spPr>
          <a:xfrm>
            <a:off x="6876553" y="4650999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Scope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B9CBEDD-9109-4C9D-A837-FCBF023B8861}"/>
              </a:ext>
            </a:extLst>
          </p:cNvPr>
          <p:cNvSpPr/>
          <p:nvPr/>
        </p:nvSpPr>
        <p:spPr>
          <a:xfrm>
            <a:off x="6876553" y="4154350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Impact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F27E9F8-1E48-4F5E-BDE7-87656FBF9B9D}"/>
              </a:ext>
            </a:extLst>
          </p:cNvPr>
          <p:cNvSpPr/>
          <p:nvPr/>
        </p:nvSpPr>
        <p:spPr>
          <a:xfrm>
            <a:off x="6876553" y="3657701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Responsible Dep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B33461B-CC58-47E9-B80C-6D8FA0C82C80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6597733" y="2773891"/>
            <a:ext cx="282936" cy="31089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A07015-C756-4A67-859A-77CB236092C7}"/>
              </a:ext>
            </a:extLst>
          </p:cNvPr>
          <p:cNvCxnSpPr>
            <a:endCxn id="65" idx="1"/>
          </p:cNvCxnSpPr>
          <p:nvPr/>
        </p:nvCxnSpPr>
        <p:spPr>
          <a:xfrm>
            <a:off x="6746011" y="2856252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60DB3DF-4515-408E-A5A6-5E061F77A94F}"/>
              </a:ext>
            </a:extLst>
          </p:cNvPr>
          <p:cNvCxnSpPr/>
          <p:nvPr/>
        </p:nvCxnSpPr>
        <p:spPr>
          <a:xfrm>
            <a:off x="6750127" y="3367000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F2AE81D-DB28-4203-BDB0-98BF17AB9BDF}"/>
              </a:ext>
            </a:extLst>
          </p:cNvPr>
          <p:cNvCxnSpPr/>
          <p:nvPr/>
        </p:nvCxnSpPr>
        <p:spPr>
          <a:xfrm>
            <a:off x="6750127" y="3852918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A4D1779-576E-4495-BFDE-5F7E5659C076}"/>
              </a:ext>
            </a:extLst>
          </p:cNvPr>
          <p:cNvCxnSpPr/>
          <p:nvPr/>
        </p:nvCxnSpPr>
        <p:spPr>
          <a:xfrm>
            <a:off x="6741896" y="4349566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1A63BB0-6D57-4B58-81B1-22E52193E716}"/>
              </a:ext>
            </a:extLst>
          </p:cNvPr>
          <p:cNvCxnSpPr/>
          <p:nvPr/>
        </p:nvCxnSpPr>
        <p:spPr>
          <a:xfrm>
            <a:off x="6741261" y="4860313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32D7A86-A104-455D-9848-62351FD477AC}"/>
              </a:ext>
            </a:extLst>
          </p:cNvPr>
          <p:cNvSpPr/>
          <p:nvPr/>
        </p:nvSpPr>
        <p:spPr>
          <a:xfrm>
            <a:off x="6880669" y="5147648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Describe The Impact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13BB963-78A7-44ED-9055-2DBDE8923B08}"/>
              </a:ext>
            </a:extLst>
          </p:cNvPr>
          <p:cNvSpPr/>
          <p:nvPr/>
        </p:nvSpPr>
        <p:spPr>
          <a:xfrm>
            <a:off x="8647686" y="4160843"/>
            <a:ext cx="1383163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Improve/Save/Reduce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19347E5-70AE-4089-A1C4-9DA6A20CC207}"/>
              </a:ext>
            </a:extLst>
          </p:cNvPr>
          <p:cNvCxnSpPr/>
          <p:nvPr/>
        </p:nvCxnSpPr>
        <p:spPr>
          <a:xfrm>
            <a:off x="8459656" y="4373956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314037F6-B23C-416E-9030-414BB178D0EC}"/>
              </a:ext>
            </a:extLst>
          </p:cNvPr>
          <p:cNvSpPr/>
          <p:nvPr/>
        </p:nvSpPr>
        <p:spPr>
          <a:xfrm>
            <a:off x="8647686" y="4650999"/>
            <a:ext cx="1383163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Functional, Departmental, BU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BB20C54-8CAC-4CB3-B50A-8E6723EC3686}"/>
              </a:ext>
            </a:extLst>
          </p:cNvPr>
          <p:cNvCxnSpPr/>
          <p:nvPr/>
        </p:nvCxnSpPr>
        <p:spPr>
          <a:xfrm>
            <a:off x="8459656" y="4864112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BD35DCF-7955-4659-89A2-68A14121DB8F}"/>
              </a:ext>
            </a:extLst>
          </p:cNvPr>
          <p:cNvSpPr/>
          <p:nvPr/>
        </p:nvSpPr>
        <p:spPr>
          <a:xfrm>
            <a:off x="6871803" y="5658393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Sustainability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83BF872-D747-498A-B3BC-18A88A04E2D7}"/>
              </a:ext>
            </a:extLst>
          </p:cNvPr>
          <p:cNvCxnSpPr/>
          <p:nvPr/>
        </p:nvCxnSpPr>
        <p:spPr>
          <a:xfrm>
            <a:off x="6758185" y="5371059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B3A6BB1-73B2-4542-BD01-B04FDC5B056A}"/>
              </a:ext>
            </a:extLst>
          </p:cNvPr>
          <p:cNvCxnSpPr/>
          <p:nvPr/>
        </p:nvCxnSpPr>
        <p:spPr>
          <a:xfrm>
            <a:off x="6597733" y="3266077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23897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DC85-1A3A-1457-70E8-0BC73BCE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76">
            <a:extLst>
              <a:ext uri="{FF2B5EF4-FFF2-40B4-BE49-F238E27FC236}">
                <a16:creationId xmlns:a16="http://schemas.microsoft.com/office/drawing/2014/main" id="{7F1D9F86-2A0D-81A4-B459-C3D741A9656F}"/>
              </a:ext>
            </a:extLst>
          </p:cNvPr>
          <p:cNvSpPr txBox="1">
            <a:spLocks/>
          </p:cNvSpPr>
          <p:nvPr/>
        </p:nvSpPr>
        <p:spPr>
          <a:xfrm>
            <a:off x="595977" y="362564"/>
            <a:ext cx="757146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buNone/>
              <a:defRPr sz="2000" b="1" spc="-90">
                <a:solidFill>
                  <a:srgbClr val="00000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/>
              <a:t>SpeakUp Flow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B13606FF-CBED-3A45-333E-F81C39306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740" y="193716"/>
            <a:ext cx="2496060" cy="755629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E657FD8-1212-4D43-98B2-E6FAB93773DA}"/>
              </a:ext>
            </a:extLst>
          </p:cNvPr>
          <p:cNvSpPr/>
          <p:nvPr/>
        </p:nvSpPr>
        <p:spPr>
          <a:xfrm>
            <a:off x="4446441" y="1389459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Type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5E04D7B-819E-45A5-97EE-5611FEE1CB5C}"/>
              </a:ext>
            </a:extLst>
          </p:cNvPr>
          <p:cNvSpPr/>
          <p:nvPr/>
        </p:nvSpPr>
        <p:spPr>
          <a:xfrm>
            <a:off x="4767717" y="2266309"/>
            <a:ext cx="1578812" cy="39082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Project Proposal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5939EDB-998C-4670-A2F2-98EFD37FC415}"/>
              </a:ext>
            </a:extLst>
          </p:cNvPr>
          <p:cNvCxnSpPr>
            <a:cxnSpLocks/>
            <a:endCxn id="31" idx="1"/>
          </p:cNvCxnSpPr>
          <p:nvPr/>
        </p:nvCxnSpPr>
        <p:spPr>
          <a:xfrm rot="16200000" flipH="1">
            <a:off x="4564411" y="2258416"/>
            <a:ext cx="276070" cy="1305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9795921-B952-47B2-9162-941E9A2E9DBA}"/>
              </a:ext>
            </a:extLst>
          </p:cNvPr>
          <p:cNvSpPr/>
          <p:nvPr/>
        </p:nvSpPr>
        <p:spPr>
          <a:xfrm>
            <a:off x="2383032" y="1389459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Employee Details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EFD4FC6-A112-47BB-A15A-029B943CEDC4}"/>
              </a:ext>
            </a:extLst>
          </p:cNvPr>
          <p:cNvSpPr/>
          <p:nvPr/>
        </p:nvSpPr>
        <p:spPr>
          <a:xfrm>
            <a:off x="2704308" y="2266309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Code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AB5AC4D-83A6-4AF5-94BD-0E7ADC90B1D0}"/>
              </a:ext>
            </a:extLst>
          </p:cNvPr>
          <p:cNvSpPr/>
          <p:nvPr/>
        </p:nvSpPr>
        <p:spPr>
          <a:xfrm>
            <a:off x="2704308" y="2766521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Name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6BC5650-D458-4A31-AEB8-46B8C59D2E1F}"/>
              </a:ext>
            </a:extLst>
          </p:cNvPr>
          <p:cNvSpPr/>
          <p:nvPr/>
        </p:nvSpPr>
        <p:spPr>
          <a:xfrm>
            <a:off x="2704308" y="4256468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Phone/Email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5A58354-8C55-4669-9DB0-CB5587C8182C}"/>
              </a:ext>
            </a:extLst>
          </p:cNvPr>
          <p:cNvSpPr/>
          <p:nvPr/>
        </p:nvSpPr>
        <p:spPr>
          <a:xfrm>
            <a:off x="2704308" y="3759819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BU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2E37DB3-898E-4960-B80D-8EE66E07A6CC}"/>
              </a:ext>
            </a:extLst>
          </p:cNvPr>
          <p:cNvSpPr/>
          <p:nvPr/>
        </p:nvSpPr>
        <p:spPr>
          <a:xfrm>
            <a:off x="2704308" y="3263170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Department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D0EC9BB-F686-4DD2-AAC6-298FF61B9226}"/>
              </a:ext>
            </a:extLst>
          </p:cNvPr>
          <p:cNvCxnSpPr>
            <a:endCxn id="51" idx="1"/>
          </p:cNvCxnSpPr>
          <p:nvPr/>
        </p:nvCxnSpPr>
        <p:spPr>
          <a:xfrm rot="16200000" flipH="1">
            <a:off x="1497064" y="3244636"/>
            <a:ext cx="2283947" cy="1305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2FCA63-59BB-4BAA-9D48-BD8617B7C1B3}"/>
              </a:ext>
            </a:extLst>
          </p:cNvPr>
          <p:cNvCxnSpPr>
            <a:endCxn id="49" idx="1"/>
          </p:cNvCxnSpPr>
          <p:nvPr/>
        </p:nvCxnSpPr>
        <p:spPr>
          <a:xfrm>
            <a:off x="2573766" y="2461721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005732C-6BC5-4E5B-92AC-9388FD3DB958}"/>
              </a:ext>
            </a:extLst>
          </p:cNvPr>
          <p:cNvCxnSpPr/>
          <p:nvPr/>
        </p:nvCxnSpPr>
        <p:spPr>
          <a:xfrm>
            <a:off x="2577882" y="2972469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23C79C4-BB0B-46A7-BDB9-5E8C0764F237}"/>
              </a:ext>
            </a:extLst>
          </p:cNvPr>
          <p:cNvCxnSpPr/>
          <p:nvPr/>
        </p:nvCxnSpPr>
        <p:spPr>
          <a:xfrm>
            <a:off x="2577882" y="3458387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F7AC26-E3E3-4433-A3B1-768C17677BF4}"/>
              </a:ext>
            </a:extLst>
          </p:cNvPr>
          <p:cNvCxnSpPr/>
          <p:nvPr/>
        </p:nvCxnSpPr>
        <p:spPr>
          <a:xfrm>
            <a:off x="2569651" y="3955035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15702CD-A992-4807-A792-626B396331C1}"/>
              </a:ext>
            </a:extLst>
          </p:cNvPr>
          <p:cNvCxnSpPr>
            <a:stCxn id="48" idx="3"/>
            <a:endCxn id="30" idx="1"/>
          </p:cNvCxnSpPr>
          <p:nvPr/>
        </p:nvCxnSpPr>
        <p:spPr>
          <a:xfrm>
            <a:off x="3961844" y="1778697"/>
            <a:ext cx="484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34EA250-714A-4299-8329-973633C29FCE}"/>
              </a:ext>
            </a:extLst>
          </p:cNvPr>
          <p:cNvSpPr/>
          <p:nvPr/>
        </p:nvSpPr>
        <p:spPr>
          <a:xfrm>
            <a:off x="6625349" y="2340882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Project Title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7FD228C-5028-4952-8E47-4AE897CF59BC}"/>
              </a:ext>
            </a:extLst>
          </p:cNvPr>
          <p:cNvSpPr/>
          <p:nvPr/>
        </p:nvSpPr>
        <p:spPr>
          <a:xfrm>
            <a:off x="6625349" y="2841094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Business</a:t>
            </a:r>
            <a:r>
              <a:rPr lang="en-US" sz="1200" dirty="0"/>
              <a:t>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Need</a:t>
            </a:r>
            <a:r>
              <a:rPr lang="en-US" sz="1200" dirty="0"/>
              <a:t> 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B588F26-8807-4C7C-9C86-71B7925AD04D}"/>
              </a:ext>
            </a:extLst>
          </p:cNvPr>
          <p:cNvSpPr/>
          <p:nvPr/>
        </p:nvSpPr>
        <p:spPr>
          <a:xfrm>
            <a:off x="6625349" y="4331041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Estimated Cost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B9CBEDD-9109-4C9D-A837-FCBF023B8861}"/>
              </a:ext>
            </a:extLst>
          </p:cNvPr>
          <p:cNvSpPr/>
          <p:nvPr/>
        </p:nvSpPr>
        <p:spPr>
          <a:xfrm>
            <a:off x="6625349" y="3834392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Scope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F27E9F8-1E48-4F5E-BDE7-87656FBF9B9D}"/>
              </a:ext>
            </a:extLst>
          </p:cNvPr>
          <p:cNvSpPr/>
          <p:nvPr/>
        </p:nvSpPr>
        <p:spPr>
          <a:xfrm>
            <a:off x="6625349" y="3337743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Expected</a:t>
            </a:r>
            <a:r>
              <a:rPr lang="en-US" sz="1200" dirty="0"/>
              <a:t>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Benefits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B33461B-CC58-47E9-B80C-6D8FA0C82C80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6346529" y="2453933"/>
            <a:ext cx="282936" cy="35661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A07015-C756-4A67-859A-77CB236092C7}"/>
              </a:ext>
            </a:extLst>
          </p:cNvPr>
          <p:cNvCxnSpPr>
            <a:endCxn id="65" idx="1"/>
          </p:cNvCxnSpPr>
          <p:nvPr/>
        </p:nvCxnSpPr>
        <p:spPr>
          <a:xfrm>
            <a:off x="6494807" y="2536294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60DB3DF-4515-408E-A5A6-5E061F77A94F}"/>
              </a:ext>
            </a:extLst>
          </p:cNvPr>
          <p:cNvCxnSpPr/>
          <p:nvPr/>
        </p:nvCxnSpPr>
        <p:spPr>
          <a:xfrm>
            <a:off x="6498923" y="3047042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F2AE81D-DB28-4203-BDB0-98BF17AB9BDF}"/>
              </a:ext>
            </a:extLst>
          </p:cNvPr>
          <p:cNvCxnSpPr/>
          <p:nvPr/>
        </p:nvCxnSpPr>
        <p:spPr>
          <a:xfrm>
            <a:off x="6498923" y="3532960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A4D1779-576E-4495-BFDE-5F7E5659C076}"/>
              </a:ext>
            </a:extLst>
          </p:cNvPr>
          <p:cNvCxnSpPr/>
          <p:nvPr/>
        </p:nvCxnSpPr>
        <p:spPr>
          <a:xfrm>
            <a:off x="6490692" y="4029608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1A63BB0-6D57-4B58-81B1-22E52193E716}"/>
              </a:ext>
            </a:extLst>
          </p:cNvPr>
          <p:cNvCxnSpPr/>
          <p:nvPr/>
        </p:nvCxnSpPr>
        <p:spPr>
          <a:xfrm>
            <a:off x="6490057" y="4540355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32D7A86-A104-455D-9848-62351FD477AC}"/>
              </a:ext>
            </a:extLst>
          </p:cNvPr>
          <p:cNvSpPr/>
          <p:nvPr/>
        </p:nvSpPr>
        <p:spPr>
          <a:xfrm>
            <a:off x="6629465" y="4827690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Expected ROI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13BB963-78A7-44ED-9055-2DBDE8923B08}"/>
              </a:ext>
            </a:extLst>
          </p:cNvPr>
          <p:cNvSpPr/>
          <p:nvPr/>
        </p:nvSpPr>
        <p:spPr>
          <a:xfrm>
            <a:off x="8396482" y="3843534"/>
            <a:ext cx="2353859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(BU / Multi-BU / Corporate)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19347E5-70AE-4089-A1C4-9DA6A20CC207}"/>
              </a:ext>
            </a:extLst>
          </p:cNvPr>
          <p:cNvCxnSpPr/>
          <p:nvPr/>
        </p:nvCxnSpPr>
        <p:spPr>
          <a:xfrm>
            <a:off x="8208452" y="4056647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BD35DCF-7955-4659-89A2-68A14121DB8F}"/>
              </a:ext>
            </a:extLst>
          </p:cNvPr>
          <p:cNvSpPr/>
          <p:nvPr/>
        </p:nvSpPr>
        <p:spPr>
          <a:xfrm>
            <a:off x="6620599" y="5338435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Key Stakeholders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83BF872-D747-498A-B3BC-18A88A04E2D7}"/>
              </a:ext>
            </a:extLst>
          </p:cNvPr>
          <p:cNvCxnSpPr/>
          <p:nvPr/>
        </p:nvCxnSpPr>
        <p:spPr>
          <a:xfrm>
            <a:off x="6506981" y="5051101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D91A426-804C-4247-8DE4-79A85F003923}"/>
              </a:ext>
            </a:extLst>
          </p:cNvPr>
          <p:cNvSpPr/>
          <p:nvPr/>
        </p:nvSpPr>
        <p:spPr>
          <a:xfrm>
            <a:off x="8396482" y="3345896"/>
            <a:ext cx="2353859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(Financial, Operational, Safety, Compliance)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9309A11-4A3F-4723-B604-71C94F6B0573}"/>
              </a:ext>
            </a:extLst>
          </p:cNvPr>
          <p:cNvCxnSpPr/>
          <p:nvPr/>
        </p:nvCxnSpPr>
        <p:spPr>
          <a:xfrm>
            <a:off x="8208452" y="3559009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92CBE76-36B5-4F61-80F5-FDDD3DF34685}"/>
              </a:ext>
            </a:extLst>
          </p:cNvPr>
          <p:cNvSpPr/>
          <p:nvPr/>
        </p:nvSpPr>
        <p:spPr>
          <a:xfrm>
            <a:off x="6629465" y="5842412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Timeline</a:t>
            </a:r>
            <a:r>
              <a:rPr lang="en-US" sz="1200" dirty="0"/>
              <a:t> 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0E31B5B-4461-4D86-84B3-FC03032D6042}"/>
              </a:ext>
            </a:extLst>
          </p:cNvPr>
          <p:cNvCxnSpPr/>
          <p:nvPr/>
        </p:nvCxnSpPr>
        <p:spPr>
          <a:xfrm>
            <a:off x="6494493" y="5565512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00A6FA1D-2881-427F-B499-62458C19CE4D}"/>
              </a:ext>
            </a:extLst>
          </p:cNvPr>
          <p:cNvSpPr/>
          <p:nvPr/>
        </p:nvSpPr>
        <p:spPr>
          <a:xfrm>
            <a:off x="8396482" y="5824680"/>
            <a:ext cx="2353859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(Estimated Start–End Dates)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8A67955-7050-43E3-BFF5-7390551F7774}"/>
              </a:ext>
            </a:extLst>
          </p:cNvPr>
          <p:cNvCxnSpPr/>
          <p:nvPr/>
        </p:nvCxnSpPr>
        <p:spPr>
          <a:xfrm>
            <a:off x="8208452" y="6037793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58850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DC85-1A3A-1457-70E8-0BC73BCE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76">
            <a:extLst>
              <a:ext uri="{FF2B5EF4-FFF2-40B4-BE49-F238E27FC236}">
                <a16:creationId xmlns:a16="http://schemas.microsoft.com/office/drawing/2014/main" id="{7F1D9F86-2A0D-81A4-B459-C3D741A9656F}"/>
              </a:ext>
            </a:extLst>
          </p:cNvPr>
          <p:cNvSpPr txBox="1">
            <a:spLocks/>
          </p:cNvSpPr>
          <p:nvPr/>
        </p:nvSpPr>
        <p:spPr>
          <a:xfrm>
            <a:off x="595977" y="362564"/>
            <a:ext cx="757146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buNone/>
              <a:defRPr sz="2000" b="1" spc="-90">
                <a:solidFill>
                  <a:srgbClr val="00000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/>
              <a:t>SpeakUp Flow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B13606FF-CBED-3A45-333E-F81C39306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740" y="193716"/>
            <a:ext cx="2496060" cy="755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4C065B-391B-4C98-9E99-4D625BDCFE08}"/>
              </a:ext>
            </a:extLst>
          </p:cNvPr>
          <p:cNvSpPr txBox="1"/>
          <p:nvPr/>
        </p:nvSpPr>
        <p:spPr>
          <a:xfrm>
            <a:off x="9901125" y="6024764"/>
            <a:ext cx="22198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Upload Supporting Photo or File (optional)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E657FD8-1212-4D43-98B2-E6FAB93773DA}"/>
              </a:ext>
            </a:extLst>
          </p:cNvPr>
          <p:cNvSpPr/>
          <p:nvPr/>
        </p:nvSpPr>
        <p:spPr>
          <a:xfrm>
            <a:off x="4409726" y="1560281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Type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5939EDB-998C-4670-A2F2-98EFD37FC415}"/>
              </a:ext>
            </a:extLst>
          </p:cNvPr>
          <p:cNvCxnSpPr>
            <a:cxnSpLocks/>
            <a:endCxn id="64" idx="1"/>
          </p:cNvCxnSpPr>
          <p:nvPr/>
        </p:nvCxnSpPr>
        <p:spPr>
          <a:xfrm rot="16200000" flipH="1">
            <a:off x="4520333" y="2436603"/>
            <a:ext cx="290796" cy="1305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9795921-B952-47B2-9162-941E9A2E9DBA}"/>
              </a:ext>
            </a:extLst>
          </p:cNvPr>
          <p:cNvSpPr/>
          <p:nvPr/>
        </p:nvSpPr>
        <p:spPr>
          <a:xfrm>
            <a:off x="2346317" y="1560281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Employee Details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EFD4FC6-A112-47BB-A15A-029B943CEDC4}"/>
              </a:ext>
            </a:extLst>
          </p:cNvPr>
          <p:cNvSpPr/>
          <p:nvPr/>
        </p:nvSpPr>
        <p:spPr>
          <a:xfrm>
            <a:off x="2667593" y="2437131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Code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AB5AC4D-83A6-4AF5-94BD-0E7ADC90B1D0}"/>
              </a:ext>
            </a:extLst>
          </p:cNvPr>
          <p:cNvSpPr/>
          <p:nvPr/>
        </p:nvSpPr>
        <p:spPr>
          <a:xfrm>
            <a:off x="2667593" y="2937343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Name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6BC5650-D458-4A31-AEB8-46B8C59D2E1F}"/>
              </a:ext>
            </a:extLst>
          </p:cNvPr>
          <p:cNvSpPr/>
          <p:nvPr/>
        </p:nvSpPr>
        <p:spPr>
          <a:xfrm>
            <a:off x="2667593" y="4427290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Phone/Email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5A58354-8C55-4669-9DB0-CB5587C8182C}"/>
              </a:ext>
            </a:extLst>
          </p:cNvPr>
          <p:cNvSpPr/>
          <p:nvPr/>
        </p:nvSpPr>
        <p:spPr>
          <a:xfrm>
            <a:off x="2667593" y="3930641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BU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2E37DB3-898E-4960-B80D-8EE66E07A6CC}"/>
              </a:ext>
            </a:extLst>
          </p:cNvPr>
          <p:cNvSpPr/>
          <p:nvPr/>
        </p:nvSpPr>
        <p:spPr>
          <a:xfrm>
            <a:off x="2667593" y="3433992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Department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D0EC9BB-F686-4DD2-AAC6-298FF61B9226}"/>
              </a:ext>
            </a:extLst>
          </p:cNvPr>
          <p:cNvCxnSpPr>
            <a:endCxn id="51" idx="1"/>
          </p:cNvCxnSpPr>
          <p:nvPr/>
        </p:nvCxnSpPr>
        <p:spPr>
          <a:xfrm rot="16200000" flipH="1">
            <a:off x="1460349" y="3415458"/>
            <a:ext cx="2283947" cy="1305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2FCA63-59BB-4BAA-9D48-BD8617B7C1B3}"/>
              </a:ext>
            </a:extLst>
          </p:cNvPr>
          <p:cNvCxnSpPr>
            <a:endCxn id="49" idx="1"/>
          </p:cNvCxnSpPr>
          <p:nvPr/>
        </p:nvCxnSpPr>
        <p:spPr>
          <a:xfrm>
            <a:off x="2537051" y="2632543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005732C-6BC5-4E5B-92AC-9388FD3DB958}"/>
              </a:ext>
            </a:extLst>
          </p:cNvPr>
          <p:cNvCxnSpPr/>
          <p:nvPr/>
        </p:nvCxnSpPr>
        <p:spPr>
          <a:xfrm>
            <a:off x="2541167" y="3143291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23C79C4-BB0B-46A7-BDB9-5E8C0764F237}"/>
              </a:ext>
            </a:extLst>
          </p:cNvPr>
          <p:cNvCxnSpPr/>
          <p:nvPr/>
        </p:nvCxnSpPr>
        <p:spPr>
          <a:xfrm>
            <a:off x="2541167" y="3629209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F7AC26-E3E3-4433-A3B1-768C17677BF4}"/>
              </a:ext>
            </a:extLst>
          </p:cNvPr>
          <p:cNvCxnSpPr/>
          <p:nvPr/>
        </p:nvCxnSpPr>
        <p:spPr>
          <a:xfrm>
            <a:off x="2532936" y="4125857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15702CD-A992-4807-A792-626B396331C1}"/>
              </a:ext>
            </a:extLst>
          </p:cNvPr>
          <p:cNvCxnSpPr>
            <a:stCxn id="48" idx="3"/>
            <a:endCxn id="30" idx="1"/>
          </p:cNvCxnSpPr>
          <p:nvPr/>
        </p:nvCxnSpPr>
        <p:spPr>
          <a:xfrm>
            <a:off x="3925129" y="1949519"/>
            <a:ext cx="484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34EA250-714A-4299-8329-973633C29FCE}"/>
              </a:ext>
            </a:extLst>
          </p:cNvPr>
          <p:cNvSpPr/>
          <p:nvPr/>
        </p:nvSpPr>
        <p:spPr>
          <a:xfrm>
            <a:off x="6588634" y="2537104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Safety Concern Title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7FD228C-5028-4952-8E47-4AE897CF59BC}"/>
              </a:ext>
            </a:extLst>
          </p:cNvPr>
          <p:cNvSpPr/>
          <p:nvPr/>
        </p:nvSpPr>
        <p:spPr>
          <a:xfrm>
            <a:off x="6588634" y="3037316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Description</a:t>
            </a:r>
            <a:r>
              <a:rPr lang="en-US" sz="1200" dirty="0"/>
              <a:t> of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Concern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B588F26-8807-4C7C-9C86-71B7925AD04D}"/>
              </a:ext>
            </a:extLst>
          </p:cNvPr>
          <p:cNvSpPr/>
          <p:nvPr/>
        </p:nvSpPr>
        <p:spPr>
          <a:xfrm>
            <a:off x="6588634" y="4527263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Potential Impact 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B9CBEDD-9109-4C9D-A837-FCBF023B8861}"/>
              </a:ext>
            </a:extLst>
          </p:cNvPr>
          <p:cNvSpPr/>
          <p:nvPr/>
        </p:nvSpPr>
        <p:spPr>
          <a:xfrm>
            <a:off x="6588634" y="4030614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Risk Level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F27E9F8-1E48-4F5E-BDE7-87656FBF9B9D}"/>
              </a:ext>
            </a:extLst>
          </p:cNvPr>
          <p:cNvSpPr/>
          <p:nvPr/>
        </p:nvSpPr>
        <p:spPr>
          <a:xfrm>
            <a:off x="6588634" y="3533965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Category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B33461B-CC58-47E9-B80C-6D8FA0C82C80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6309814" y="2650155"/>
            <a:ext cx="282936" cy="31089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A07015-C756-4A67-859A-77CB236092C7}"/>
              </a:ext>
            </a:extLst>
          </p:cNvPr>
          <p:cNvCxnSpPr>
            <a:endCxn id="65" idx="1"/>
          </p:cNvCxnSpPr>
          <p:nvPr/>
        </p:nvCxnSpPr>
        <p:spPr>
          <a:xfrm>
            <a:off x="6458092" y="2732516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60DB3DF-4515-408E-A5A6-5E061F77A94F}"/>
              </a:ext>
            </a:extLst>
          </p:cNvPr>
          <p:cNvCxnSpPr/>
          <p:nvPr/>
        </p:nvCxnSpPr>
        <p:spPr>
          <a:xfrm>
            <a:off x="6462208" y="3243264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F2AE81D-DB28-4203-BDB0-98BF17AB9BDF}"/>
              </a:ext>
            </a:extLst>
          </p:cNvPr>
          <p:cNvCxnSpPr/>
          <p:nvPr/>
        </p:nvCxnSpPr>
        <p:spPr>
          <a:xfrm>
            <a:off x="6462208" y="3729182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A4D1779-576E-4495-BFDE-5F7E5659C076}"/>
              </a:ext>
            </a:extLst>
          </p:cNvPr>
          <p:cNvCxnSpPr/>
          <p:nvPr/>
        </p:nvCxnSpPr>
        <p:spPr>
          <a:xfrm>
            <a:off x="6453977" y="4225830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1A63BB0-6D57-4B58-81B1-22E52193E716}"/>
              </a:ext>
            </a:extLst>
          </p:cNvPr>
          <p:cNvCxnSpPr/>
          <p:nvPr/>
        </p:nvCxnSpPr>
        <p:spPr>
          <a:xfrm>
            <a:off x="6453342" y="4736577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32D7A86-A104-455D-9848-62351FD477AC}"/>
              </a:ext>
            </a:extLst>
          </p:cNvPr>
          <p:cNvSpPr/>
          <p:nvPr/>
        </p:nvSpPr>
        <p:spPr>
          <a:xfrm>
            <a:off x="6592750" y="5023912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</a:rPr>
              <a:t>Suggested Preventive or Corrective Action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13BB963-78A7-44ED-9055-2DBDE8923B08}"/>
              </a:ext>
            </a:extLst>
          </p:cNvPr>
          <p:cNvSpPr/>
          <p:nvPr/>
        </p:nvSpPr>
        <p:spPr>
          <a:xfrm>
            <a:off x="8359767" y="4037107"/>
            <a:ext cx="2353859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(Low / Medium / High / Critical)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19347E5-70AE-4089-A1C4-9DA6A20CC207}"/>
              </a:ext>
            </a:extLst>
          </p:cNvPr>
          <p:cNvCxnSpPr/>
          <p:nvPr/>
        </p:nvCxnSpPr>
        <p:spPr>
          <a:xfrm>
            <a:off x="8171737" y="4250220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314037F6-B23C-416E-9030-414BB178D0EC}"/>
              </a:ext>
            </a:extLst>
          </p:cNvPr>
          <p:cNvSpPr/>
          <p:nvPr/>
        </p:nvSpPr>
        <p:spPr>
          <a:xfrm>
            <a:off x="8359767" y="4527263"/>
            <a:ext cx="2353859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(Injury, Downtime, Damage, Environmental Harm)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BB20C54-8CAC-4CB3-B50A-8E6723EC3686}"/>
              </a:ext>
            </a:extLst>
          </p:cNvPr>
          <p:cNvCxnSpPr/>
          <p:nvPr/>
        </p:nvCxnSpPr>
        <p:spPr>
          <a:xfrm>
            <a:off x="8171737" y="4740376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BD35DCF-7955-4659-89A2-68A14121DB8F}"/>
              </a:ext>
            </a:extLst>
          </p:cNvPr>
          <p:cNvSpPr/>
          <p:nvPr/>
        </p:nvSpPr>
        <p:spPr>
          <a:xfrm>
            <a:off x="6583884" y="5534657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Responsible Department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83BF872-D747-498A-B3BC-18A88A04E2D7}"/>
              </a:ext>
            </a:extLst>
          </p:cNvPr>
          <p:cNvCxnSpPr/>
          <p:nvPr/>
        </p:nvCxnSpPr>
        <p:spPr>
          <a:xfrm>
            <a:off x="6470266" y="5247323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172D2FA-DB88-4DB7-9659-1B5D49EFEAC8}"/>
              </a:ext>
            </a:extLst>
          </p:cNvPr>
          <p:cNvSpPr/>
          <p:nvPr/>
        </p:nvSpPr>
        <p:spPr>
          <a:xfrm>
            <a:off x="4731002" y="2451859"/>
            <a:ext cx="1578812" cy="39082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Safety Concern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2DCE9ED-1D2C-4715-B095-AF89E51DC972}"/>
              </a:ext>
            </a:extLst>
          </p:cNvPr>
          <p:cNvSpPr/>
          <p:nvPr/>
        </p:nvSpPr>
        <p:spPr>
          <a:xfrm>
            <a:off x="8359767" y="3520482"/>
            <a:ext cx="2353859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(Unsafe Act / Unsafe Condition / Environmental / Health)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CFB48EA-A1FC-4027-8968-F841D5E65C70}"/>
              </a:ext>
            </a:extLst>
          </p:cNvPr>
          <p:cNvCxnSpPr/>
          <p:nvPr/>
        </p:nvCxnSpPr>
        <p:spPr>
          <a:xfrm>
            <a:off x="8171737" y="3733595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6459B72-BDC7-4C59-9D2B-F45B558D57E3}"/>
              </a:ext>
            </a:extLst>
          </p:cNvPr>
          <p:cNvSpPr/>
          <p:nvPr/>
        </p:nvSpPr>
        <p:spPr>
          <a:xfrm>
            <a:off x="8359767" y="3516718"/>
            <a:ext cx="2353859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(Unsafe Act / Unsafe Condition / Environmental / Health)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386BE63-D070-4DCD-A506-5DCC2E8807A5}"/>
              </a:ext>
            </a:extLst>
          </p:cNvPr>
          <p:cNvCxnSpPr/>
          <p:nvPr/>
        </p:nvCxnSpPr>
        <p:spPr>
          <a:xfrm>
            <a:off x="8171737" y="3729831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99557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DC85-1A3A-1457-70E8-0BC73BCE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76">
            <a:extLst>
              <a:ext uri="{FF2B5EF4-FFF2-40B4-BE49-F238E27FC236}">
                <a16:creationId xmlns:a16="http://schemas.microsoft.com/office/drawing/2014/main" id="{7F1D9F86-2A0D-81A4-B459-C3D741A9656F}"/>
              </a:ext>
            </a:extLst>
          </p:cNvPr>
          <p:cNvSpPr txBox="1">
            <a:spLocks/>
          </p:cNvSpPr>
          <p:nvPr/>
        </p:nvSpPr>
        <p:spPr>
          <a:xfrm>
            <a:off x="595977" y="362564"/>
            <a:ext cx="757146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buNone/>
              <a:defRPr sz="2000" b="1" spc="-90">
                <a:solidFill>
                  <a:srgbClr val="00000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/>
              <a:t>SpeakUp Flow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B13606FF-CBED-3A45-333E-F81C39306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740" y="193716"/>
            <a:ext cx="2496060" cy="755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4C065B-391B-4C98-9E99-4D625BDCFE08}"/>
              </a:ext>
            </a:extLst>
          </p:cNvPr>
          <p:cNvSpPr txBox="1"/>
          <p:nvPr/>
        </p:nvSpPr>
        <p:spPr>
          <a:xfrm>
            <a:off x="9972179" y="6352026"/>
            <a:ext cx="22198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Upload Supporting Photo or File (optional)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E657FD8-1212-4D43-98B2-E6FAB93773DA}"/>
              </a:ext>
            </a:extLst>
          </p:cNvPr>
          <p:cNvSpPr/>
          <p:nvPr/>
        </p:nvSpPr>
        <p:spPr>
          <a:xfrm>
            <a:off x="4195231" y="1349266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Type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5939EDB-998C-4670-A2F2-98EFD37FC415}"/>
              </a:ext>
            </a:extLst>
          </p:cNvPr>
          <p:cNvCxnSpPr>
            <a:cxnSpLocks/>
            <a:endCxn id="64" idx="1"/>
          </p:cNvCxnSpPr>
          <p:nvPr/>
        </p:nvCxnSpPr>
        <p:spPr>
          <a:xfrm rot="16200000" flipH="1">
            <a:off x="4305838" y="2225588"/>
            <a:ext cx="290796" cy="1305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9795921-B952-47B2-9162-941E9A2E9DBA}"/>
              </a:ext>
            </a:extLst>
          </p:cNvPr>
          <p:cNvSpPr/>
          <p:nvPr/>
        </p:nvSpPr>
        <p:spPr>
          <a:xfrm>
            <a:off x="2131822" y="1349266"/>
            <a:ext cx="1578812" cy="7784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Employee Details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EFD4FC6-A112-47BB-A15A-029B943CEDC4}"/>
              </a:ext>
            </a:extLst>
          </p:cNvPr>
          <p:cNvSpPr/>
          <p:nvPr/>
        </p:nvSpPr>
        <p:spPr>
          <a:xfrm>
            <a:off x="2453098" y="2226116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Code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AB5AC4D-83A6-4AF5-94BD-0E7ADC90B1D0}"/>
              </a:ext>
            </a:extLst>
          </p:cNvPr>
          <p:cNvSpPr/>
          <p:nvPr/>
        </p:nvSpPr>
        <p:spPr>
          <a:xfrm>
            <a:off x="2453098" y="2726328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Employee Name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6BC5650-D458-4A31-AEB8-46B8C59D2E1F}"/>
              </a:ext>
            </a:extLst>
          </p:cNvPr>
          <p:cNvSpPr/>
          <p:nvPr/>
        </p:nvSpPr>
        <p:spPr>
          <a:xfrm>
            <a:off x="2453098" y="4216275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Phone/Email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5A58354-8C55-4669-9DB0-CB5587C8182C}"/>
              </a:ext>
            </a:extLst>
          </p:cNvPr>
          <p:cNvSpPr/>
          <p:nvPr/>
        </p:nvSpPr>
        <p:spPr>
          <a:xfrm>
            <a:off x="2453098" y="3719626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BU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2E37DB3-898E-4960-B80D-8EE66E07A6CC}"/>
              </a:ext>
            </a:extLst>
          </p:cNvPr>
          <p:cNvSpPr/>
          <p:nvPr/>
        </p:nvSpPr>
        <p:spPr>
          <a:xfrm>
            <a:off x="2453098" y="3222977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Department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D0EC9BB-F686-4DD2-AAC6-298FF61B9226}"/>
              </a:ext>
            </a:extLst>
          </p:cNvPr>
          <p:cNvCxnSpPr>
            <a:endCxn id="51" idx="1"/>
          </p:cNvCxnSpPr>
          <p:nvPr/>
        </p:nvCxnSpPr>
        <p:spPr>
          <a:xfrm rot="16200000" flipH="1">
            <a:off x="1245854" y="3204443"/>
            <a:ext cx="2283947" cy="1305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2FCA63-59BB-4BAA-9D48-BD8617B7C1B3}"/>
              </a:ext>
            </a:extLst>
          </p:cNvPr>
          <p:cNvCxnSpPr>
            <a:endCxn id="49" idx="1"/>
          </p:cNvCxnSpPr>
          <p:nvPr/>
        </p:nvCxnSpPr>
        <p:spPr>
          <a:xfrm>
            <a:off x="2322556" y="2421528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005732C-6BC5-4E5B-92AC-9388FD3DB958}"/>
              </a:ext>
            </a:extLst>
          </p:cNvPr>
          <p:cNvCxnSpPr/>
          <p:nvPr/>
        </p:nvCxnSpPr>
        <p:spPr>
          <a:xfrm>
            <a:off x="2326672" y="2932276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23C79C4-BB0B-46A7-BDB9-5E8C0764F237}"/>
              </a:ext>
            </a:extLst>
          </p:cNvPr>
          <p:cNvCxnSpPr/>
          <p:nvPr/>
        </p:nvCxnSpPr>
        <p:spPr>
          <a:xfrm>
            <a:off x="2326672" y="3418194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F7AC26-E3E3-4433-A3B1-768C17677BF4}"/>
              </a:ext>
            </a:extLst>
          </p:cNvPr>
          <p:cNvCxnSpPr/>
          <p:nvPr/>
        </p:nvCxnSpPr>
        <p:spPr>
          <a:xfrm>
            <a:off x="2318441" y="3914842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15702CD-A992-4807-A792-626B396331C1}"/>
              </a:ext>
            </a:extLst>
          </p:cNvPr>
          <p:cNvCxnSpPr>
            <a:stCxn id="48" idx="3"/>
            <a:endCxn id="30" idx="1"/>
          </p:cNvCxnSpPr>
          <p:nvPr/>
        </p:nvCxnSpPr>
        <p:spPr>
          <a:xfrm>
            <a:off x="3710634" y="1738504"/>
            <a:ext cx="484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34EA250-714A-4299-8329-973633C29FCE}"/>
              </a:ext>
            </a:extLst>
          </p:cNvPr>
          <p:cNvSpPr/>
          <p:nvPr/>
        </p:nvSpPr>
        <p:spPr>
          <a:xfrm>
            <a:off x="6374139" y="2326089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Feedback Title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7FD228C-5028-4952-8E47-4AE897CF59BC}"/>
              </a:ext>
            </a:extLst>
          </p:cNvPr>
          <p:cNvSpPr/>
          <p:nvPr/>
        </p:nvSpPr>
        <p:spPr>
          <a:xfrm>
            <a:off x="6374139" y="2826301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Category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B588F26-8807-4C7C-9C86-71B7925AD04D}"/>
              </a:ext>
            </a:extLst>
          </p:cNvPr>
          <p:cNvSpPr/>
          <p:nvPr/>
        </p:nvSpPr>
        <p:spPr>
          <a:xfrm>
            <a:off x="6374139" y="4316248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Responsible Department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B9CBEDD-9109-4C9D-A837-FCBF023B8861}"/>
              </a:ext>
            </a:extLst>
          </p:cNvPr>
          <p:cNvSpPr/>
          <p:nvPr/>
        </p:nvSpPr>
        <p:spPr>
          <a:xfrm>
            <a:off x="6374139" y="3819599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Impact Area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F27E9F8-1E48-4F5E-BDE7-87656FBF9B9D}"/>
              </a:ext>
            </a:extLst>
          </p:cNvPr>
          <p:cNvSpPr/>
          <p:nvPr/>
        </p:nvSpPr>
        <p:spPr>
          <a:xfrm>
            <a:off x="6374139" y="3322950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Description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B33461B-CC58-47E9-B80C-6D8FA0C82C80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6095319" y="2439140"/>
            <a:ext cx="282936" cy="31089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A07015-C756-4A67-859A-77CB236092C7}"/>
              </a:ext>
            </a:extLst>
          </p:cNvPr>
          <p:cNvCxnSpPr>
            <a:endCxn id="65" idx="1"/>
          </p:cNvCxnSpPr>
          <p:nvPr/>
        </p:nvCxnSpPr>
        <p:spPr>
          <a:xfrm>
            <a:off x="6243597" y="2521501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60DB3DF-4515-408E-A5A6-5E061F77A94F}"/>
              </a:ext>
            </a:extLst>
          </p:cNvPr>
          <p:cNvCxnSpPr/>
          <p:nvPr/>
        </p:nvCxnSpPr>
        <p:spPr>
          <a:xfrm>
            <a:off x="6247713" y="3032249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F2AE81D-DB28-4203-BDB0-98BF17AB9BDF}"/>
              </a:ext>
            </a:extLst>
          </p:cNvPr>
          <p:cNvCxnSpPr/>
          <p:nvPr/>
        </p:nvCxnSpPr>
        <p:spPr>
          <a:xfrm>
            <a:off x="6247713" y="3518167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A4D1779-576E-4495-BFDE-5F7E5659C076}"/>
              </a:ext>
            </a:extLst>
          </p:cNvPr>
          <p:cNvCxnSpPr/>
          <p:nvPr/>
        </p:nvCxnSpPr>
        <p:spPr>
          <a:xfrm>
            <a:off x="6239482" y="4014815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1A63BB0-6D57-4B58-81B1-22E52193E716}"/>
              </a:ext>
            </a:extLst>
          </p:cNvPr>
          <p:cNvCxnSpPr/>
          <p:nvPr/>
        </p:nvCxnSpPr>
        <p:spPr>
          <a:xfrm>
            <a:off x="6238847" y="4525562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32D7A86-A104-455D-9848-62351FD477AC}"/>
              </a:ext>
            </a:extLst>
          </p:cNvPr>
          <p:cNvSpPr/>
          <p:nvPr/>
        </p:nvSpPr>
        <p:spPr>
          <a:xfrm>
            <a:off x="6378255" y="4812897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Preferred Resolution Type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13BB963-78A7-44ED-9055-2DBDE8923B08}"/>
              </a:ext>
            </a:extLst>
          </p:cNvPr>
          <p:cNvSpPr/>
          <p:nvPr/>
        </p:nvSpPr>
        <p:spPr>
          <a:xfrm>
            <a:off x="8145272" y="3826092"/>
            <a:ext cx="2353859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(Personal, Departmental, Organizational)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19347E5-70AE-4089-A1C4-9DA6A20CC207}"/>
              </a:ext>
            </a:extLst>
          </p:cNvPr>
          <p:cNvCxnSpPr/>
          <p:nvPr/>
        </p:nvCxnSpPr>
        <p:spPr>
          <a:xfrm>
            <a:off x="7957242" y="4039205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BD35DCF-7955-4659-89A2-68A14121DB8F}"/>
              </a:ext>
            </a:extLst>
          </p:cNvPr>
          <p:cNvSpPr/>
          <p:nvPr/>
        </p:nvSpPr>
        <p:spPr>
          <a:xfrm>
            <a:off x="6369389" y="5323642"/>
            <a:ext cx="1578812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Confidentiality Level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83BF872-D747-498A-B3BC-18A88A04E2D7}"/>
              </a:ext>
            </a:extLst>
          </p:cNvPr>
          <p:cNvCxnSpPr/>
          <p:nvPr/>
        </p:nvCxnSpPr>
        <p:spPr>
          <a:xfrm>
            <a:off x="6255771" y="5036308"/>
            <a:ext cx="1305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172D2FA-DB88-4DB7-9659-1B5D49EFEAC8}"/>
              </a:ext>
            </a:extLst>
          </p:cNvPr>
          <p:cNvSpPr/>
          <p:nvPr/>
        </p:nvSpPr>
        <p:spPr>
          <a:xfrm>
            <a:off x="4516507" y="2240844"/>
            <a:ext cx="1578812" cy="39082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Emp Feedback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4314F1C-D8C1-4BDB-949A-BD17F2E17201}"/>
              </a:ext>
            </a:extLst>
          </p:cNvPr>
          <p:cNvSpPr/>
          <p:nvPr/>
        </p:nvSpPr>
        <p:spPr>
          <a:xfrm>
            <a:off x="8140122" y="2791822"/>
            <a:ext cx="2353859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(Supervisor Behavior / Workload / Communication / Facilities / Policy / HR Process)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FC7D6FF-1307-44F8-832B-D42FA98795E8}"/>
              </a:ext>
            </a:extLst>
          </p:cNvPr>
          <p:cNvCxnSpPr/>
          <p:nvPr/>
        </p:nvCxnSpPr>
        <p:spPr>
          <a:xfrm>
            <a:off x="7952092" y="3004935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215E8D3-9DC1-4AD1-AF82-CB69FFDA1130}"/>
              </a:ext>
            </a:extLst>
          </p:cNvPr>
          <p:cNvCxnSpPr>
            <a:cxnSpLocks/>
          </p:cNvCxnSpPr>
          <p:nvPr/>
        </p:nvCxnSpPr>
        <p:spPr>
          <a:xfrm>
            <a:off x="7957242" y="5019517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F4CD213-7DC0-4F7E-B3E8-18A8CC8E8CAC}"/>
              </a:ext>
            </a:extLst>
          </p:cNvPr>
          <p:cNvSpPr/>
          <p:nvPr/>
        </p:nvSpPr>
        <p:spPr>
          <a:xfrm>
            <a:off x="8144413" y="4806404"/>
            <a:ext cx="2353859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(Action Required / Feedback Only / Anonymous Share)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3DCBC91-07AC-4B5A-A817-2F1A3690CE4D}"/>
              </a:ext>
            </a:extLst>
          </p:cNvPr>
          <p:cNvCxnSpPr>
            <a:cxnSpLocks/>
          </p:cNvCxnSpPr>
          <p:nvPr/>
        </p:nvCxnSpPr>
        <p:spPr>
          <a:xfrm>
            <a:off x="7957242" y="5509672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A2E6AD3-B146-40DA-A2CD-EEEAD4AF0A2A}"/>
              </a:ext>
            </a:extLst>
          </p:cNvPr>
          <p:cNvSpPr/>
          <p:nvPr/>
        </p:nvSpPr>
        <p:spPr>
          <a:xfrm>
            <a:off x="8144413" y="5296559"/>
            <a:ext cx="2353859" cy="390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(Public / Private / Anonymous)</a:t>
            </a:r>
          </a:p>
        </p:txBody>
      </p:sp>
    </p:spTree>
    <p:extLst>
      <p:ext uri="{BB962C8B-B14F-4D97-AF65-F5344CB8AC3E}">
        <p14:creationId xmlns:p14="http://schemas.microsoft.com/office/powerpoint/2010/main" val="156725686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DC85-1A3A-1457-70E8-0BC73BCE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76">
            <a:extLst>
              <a:ext uri="{FF2B5EF4-FFF2-40B4-BE49-F238E27FC236}">
                <a16:creationId xmlns:a16="http://schemas.microsoft.com/office/drawing/2014/main" id="{7F1D9F86-2A0D-81A4-B459-C3D741A9656F}"/>
              </a:ext>
            </a:extLst>
          </p:cNvPr>
          <p:cNvSpPr txBox="1">
            <a:spLocks/>
          </p:cNvSpPr>
          <p:nvPr/>
        </p:nvSpPr>
        <p:spPr>
          <a:xfrm>
            <a:off x="595977" y="362564"/>
            <a:ext cx="757146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00"/>
              </a:spcBef>
              <a:buNone/>
              <a:defRPr sz="2000" b="1" spc="-90">
                <a:solidFill>
                  <a:srgbClr val="00000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/>
              <a:t>SpeakUp Submission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B13606FF-CBED-3A45-333E-F81C39306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740" y="193716"/>
            <a:ext cx="2496060" cy="755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59D1AB-783F-4105-A60A-2688008062C1}"/>
              </a:ext>
            </a:extLst>
          </p:cNvPr>
          <p:cNvSpPr txBox="1"/>
          <p:nvPr/>
        </p:nvSpPr>
        <p:spPr>
          <a:xfrm>
            <a:off x="2961778" y="1916023"/>
            <a:ext cx="4205942" cy="3702167"/>
          </a:xfrm>
          <a:custGeom>
            <a:avLst/>
            <a:gdLst>
              <a:gd name="csX0" fmla="*/ 0 w 4205942"/>
              <a:gd name="csY0" fmla="*/ 0 h 3702167"/>
              <a:gd name="csX1" fmla="*/ 4205942 w 4205942"/>
              <a:gd name="csY1" fmla="*/ 0 h 3702167"/>
              <a:gd name="csX2" fmla="*/ 4205942 w 4205942"/>
              <a:gd name="csY2" fmla="*/ 3702167 h 3702167"/>
              <a:gd name="csX3" fmla="*/ 0 w 4205942"/>
              <a:gd name="csY3" fmla="*/ 3702167 h 3702167"/>
              <a:gd name="csX4" fmla="*/ 0 w 4205942"/>
              <a:gd name="csY4" fmla="*/ 0 h 37021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05942" h="3702167" extrusionOk="0">
                <a:moveTo>
                  <a:pt x="0" y="0"/>
                </a:moveTo>
                <a:cubicBezTo>
                  <a:pt x="1402314" y="6670"/>
                  <a:pt x="3723038" y="-123526"/>
                  <a:pt x="4205942" y="0"/>
                </a:cubicBezTo>
                <a:cubicBezTo>
                  <a:pt x="4059645" y="1487784"/>
                  <a:pt x="4131686" y="3053224"/>
                  <a:pt x="4205942" y="3702167"/>
                </a:cubicBezTo>
                <a:cubicBezTo>
                  <a:pt x="2483135" y="3587784"/>
                  <a:pt x="1117945" y="3790296"/>
                  <a:pt x="0" y="3702167"/>
                </a:cubicBezTo>
                <a:cubicBezTo>
                  <a:pt x="106030" y="3316279"/>
                  <a:pt x="-81362" y="593276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373800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Employee Code</a:t>
            </a: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Anonymity flag (Yes/No).</a:t>
            </a:r>
          </a:p>
          <a:p>
            <a:pPr marL="171450" indent="-1714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BU.</a:t>
            </a:r>
          </a:p>
          <a:p>
            <a:pPr marL="171450" marR="0" lvl="0" indent="-1714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Title/Band.</a:t>
            </a:r>
          </a:p>
          <a:p>
            <a:pPr marL="171450" marR="0" lvl="0" indent="-1714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Category (Go To Scope).</a:t>
            </a:r>
          </a:p>
          <a:p>
            <a:pPr marL="171450" marR="0" lvl="0" indent="-1714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Urgency (Low/Med/High).</a:t>
            </a:r>
          </a:p>
          <a:p>
            <a:pPr marL="171450" marR="0" lvl="0" indent="-1714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Attachments (If Applicable)</a:t>
            </a:r>
          </a:p>
          <a:p>
            <a:pPr marL="171450" marR="0" lvl="0" indent="-1714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Contact (optional: Email or Phone).</a:t>
            </a:r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89708DCF-AB4B-4980-90E4-720FA3B2C745}"/>
              </a:ext>
            </a:extLst>
          </p:cNvPr>
          <p:cNvSpPr/>
          <p:nvPr/>
        </p:nvSpPr>
        <p:spPr>
          <a:xfrm rot="16200000">
            <a:off x="5050149" y="-2302354"/>
            <a:ext cx="182880" cy="7132320"/>
          </a:xfrm>
          <a:prstGeom prst="righ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6F7FD-D77B-4071-A11D-7E015C0D7C80}"/>
              </a:ext>
            </a:extLst>
          </p:cNvPr>
          <p:cNvSpPr txBox="1"/>
          <p:nvPr/>
        </p:nvSpPr>
        <p:spPr>
          <a:xfrm>
            <a:off x="2527265" y="1421796"/>
            <a:ext cx="3322933" cy="379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Submission Form </a:t>
            </a:r>
            <a:r>
              <a:rPr lang="en-US" sz="1050" b="1" dirty="0">
                <a:latin typeface="Verdana" panose="020B0604030504040204" pitchFamily="34" charset="0"/>
                <a:ea typeface="Verdana" panose="020B0604030504040204" pitchFamily="34" charset="0"/>
              </a:rPr>
              <a:t>(Employee)</a:t>
            </a:r>
            <a:endParaRPr lang="en-US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4C065B-391B-4C98-9E99-4D625BDCFE08}"/>
              </a:ext>
            </a:extLst>
          </p:cNvPr>
          <p:cNvSpPr txBox="1"/>
          <p:nvPr/>
        </p:nvSpPr>
        <p:spPr>
          <a:xfrm>
            <a:off x="7305367" y="3202862"/>
            <a:ext cx="221982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latin typeface="Verdana" panose="020B0604030504040204" pitchFamily="34" charset="0"/>
                <a:ea typeface="Verdana" panose="020B0604030504040204" pitchFamily="34" charset="0"/>
              </a:rPr>
              <a:t>Retention: </a:t>
            </a:r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5 Year for suggestions) per legal/HR policy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668951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4987E9A2-C4D3-46F3-893D-A412FC092947}"/>
              </a:ext>
            </a:extLst>
          </p:cNvPr>
          <p:cNvSpPr/>
          <p:nvPr/>
        </p:nvSpPr>
        <p:spPr>
          <a:xfrm>
            <a:off x="0" y="2438400"/>
            <a:ext cx="12192000" cy="3052699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4" name="Рисунок 12" descr="elsewedy_values_campaign-25.png">
            <a:extLst>
              <a:ext uri="{FF2B5EF4-FFF2-40B4-BE49-F238E27FC236}">
                <a16:creationId xmlns:a16="http://schemas.microsoft.com/office/drawing/2014/main" id="{46A8DB1E-EE3C-4C7C-8CBE-5AEC4B5EA8A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84650" y="525180"/>
            <a:ext cx="6648139" cy="7257585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EF6BD0E-C71B-46FE-9A36-2FAAFCF1F1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119" y="2431358"/>
            <a:ext cx="3059742" cy="305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99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3899</TotalTime>
  <Words>1122</Words>
  <Application>Microsoft Office PowerPoint</Application>
  <PresentationFormat>Widescreen</PresentationFormat>
  <Paragraphs>182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Arial Regular</vt:lpstr>
      <vt:lpstr>Calibri</vt:lpstr>
      <vt:lpstr>Century Gothic</vt:lpstr>
      <vt:lpstr>Verdana</vt:lpstr>
      <vt:lpstr>Office Theme</vt:lpstr>
      <vt:lpstr>SpeakUp “Provide a safe, easy and trusted channel” ETC, ESC, UMC, Polymers, Cables Accessories &amp; ECMEI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DD - DD – MM - YY</dc:title>
  <dc:creator>mohab.ali@elsewedy.com</dc:creator>
  <cp:lastModifiedBy>Marwan A Elashry</cp:lastModifiedBy>
  <cp:revision>125</cp:revision>
  <dcterms:created xsi:type="dcterms:W3CDTF">2025-06-24T07:23:01Z</dcterms:created>
  <dcterms:modified xsi:type="dcterms:W3CDTF">2026-07-24T14:23:32Z</dcterms:modified>
</cp:coreProperties>
</file>